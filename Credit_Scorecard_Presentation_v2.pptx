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492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CREDIT SCORECARD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8A000"/>
                </a:solidFill>
              </a:rPr>
              <a:t>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154680"/>
            <a:ext cx="5029200" cy="36576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SME Portfolio  —  Quantitative Analysis &amp; Model Enhancement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A000"/>
                </a:solidFill>
              </a:rPr>
              <a:t>Candidate Case Study  |  Deloitte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00"/>
                </a:solidFill>
              </a:rPr>
              <a:t>Key findings and recommendations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24688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2468880" cy="55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D2B55"/>
                </a:solidFill>
              </a:rPr>
              <a:t>557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92554"/>
            <a:ext cx="2468880" cy="336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6A8"/>
                </a:solidFill>
              </a:rPr>
              <a:t>Total Borrowers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097280"/>
            <a:ext cx="24688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188720"/>
            <a:ext cx="2468880" cy="55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0392B"/>
                </a:solidFill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692554"/>
            <a:ext cx="2468880" cy="336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6A8"/>
                </a:solidFill>
              </a:rPr>
              <a:t>Observed Defaults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1097280"/>
            <a:ext cx="24688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60" y="1188720"/>
            <a:ext cx="2468880" cy="55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39C12"/>
                </a:solidFill>
              </a:rPr>
              <a:t>8.98%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692554"/>
            <a:ext cx="2468880" cy="336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6A8"/>
                </a:solidFill>
              </a:rPr>
              <a:t>Portfolio Default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097280"/>
            <a:ext cx="24688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188720"/>
            <a:ext cx="2468880" cy="55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7348"/>
                </a:solidFill>
              </a:rPr>
              <a:t>0.87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692554"/>
            <a:ext cx="2468880" cy="336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6A8"/>
                </a:solidFill>
              </a:rPr>
              <a:t>Model AUC-ROC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176272"/>
            <a:ext cx="11338560" cy="18288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2331720"/>
            <a:ext cx="3657600" cy="5486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468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Weight Misalignment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2834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C3 Credit Bureau under-weighted by 13.4%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3101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F3 Sale Growth over-weighted by 9.7% — useless predictor (IV=0.04)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78561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IV analysis provides objective basis for reweighting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2331720"/>
            <a:ext cx="365760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2468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Scorecard Issues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2834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F4 Debt-to-Equity scoring direction is inverted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3101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F3 Sale Growth shows non-monotone, inverted default pattern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378561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PDO calibration replaces arbitrary round-number scores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19" y="2331720"/>
            <a:ext cx="3657600" cy="54864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19" y="2468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Model 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2834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Logistic regression on WoE features: AUC = 0.87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33101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Good vs Bad score gap: 785 vs 344 pts (441 pt separation)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378561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EPV = 6.25 &lt; 10 → hybrid expert + statistical approach appropriate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074920"/>
            <a:ext cx="11338560" cy="18288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16636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6A8"/>
                </a:solidFill>
              </a:rPr>
              <a:t>Bottom line: The hybrid approach — anchoring on expert judgement while using IV/WoE analysis to validate and refine weights — is the most appropriate framework given the limited default sample of 50 observations.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Background &amp; Data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00"/>
                </a:solidFill>
              </a:rPr>
              <a:t>SME portfolio scorecard — hybrid expert-statistical development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5394960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97280"/>
            <a:ext cx="53949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143000"/>
            <a:ext cx="51755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Business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1481328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SME loan portfolio of a regional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865376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Low default sample (50 cases) → pure statistical approach unreliable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2249424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Hybrid approach: expert weights anchored + quantitative refinement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2633472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Goal: objectively justify and improve expert-determined weights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097280"/>
            <a:ext cx="5760720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097280"/>
            <a:ext cx="576072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1143000"/>
            <a:ext cx="5541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Dataset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5" y="1481328"/>
            <a:ext cx="5504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557 borrowers  |  50 defaults (9.0%)  |  507 non-defaults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5" y="1865376"/>
            <a:ext cx="5504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3 credit history features (C1, C2, C3) — categorical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5" y="2249424"/>
            <a:ext cx="5504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5 financial ratio features (F1–F5) — numerical, pre-binned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5" y="2633472"/>
            <a:ext cx="5504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Special values: 99999998 (neg. equity), 99999999 (zero denominator)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127248"/>
            <a:ext cx="1138428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154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154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Feature 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Bins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456432"/>
            <a:ext cx="113842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4747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</a:rPr>
              <a:t>C1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74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Debt Restructuring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34747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Categorical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4747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7 bins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840480"/>
            <a:ext cx="11384280" cy="384048"/>
          </a:xfrm>
          <a:prstGeom prst="rect">
            <a:avLst/>
          </a:prstGeom>
          <a:solidFill>
            <a:srgbClr val="F7F9F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85876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</a:rPr>
              <a:t>C2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58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Debt Rescheduling 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8587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Categorical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38587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4 bins + NaN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224528"/>
            <a:ext cx="113842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24281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</a:rPr>
              <a:t>C3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2428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Credit Bureau Delinquency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42428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Categorical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42428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12 bins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608576"/>
            <a:ext cx="11384280" cy="384048"/>
          </a:xfrm>
          <a:prstGeom prst="rect">
            <a:avLst/>
          </a:prstGeom>
          <a:solidFill>
            <a:srgbClr val="F7F9F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62686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</a:rPr>
              <a:t>F1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6268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Net Fixed Asset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9320" y="46268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Numerical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46268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5 bins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4992624"/>
            <a:ext cx="113842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01091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</a:rPr>
              <a:t>F2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50109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Net Profit Margin (%)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320" y="50109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Numerical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50109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6 bins + sentinel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5376672"/>
            <a:ext cx="11384280" cy="384048"/>
          </a:xfrm>
          <a:prstGeom prst="rect">
            <a:avLst/>
          </a:prstGeom>
          <a:solidFill>
            <a:srgbClr val="F7F9F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3949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</a:rPr>
              <a:t>F3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" y="53949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Sale Growth (%)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53949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Numerical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9640" y="53949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5 bins + sentinel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5760720"/>
            <a:ext cx="113842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577900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</a:rPr>
              <a:t>F4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" y="57790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Debt-to-Equity Ratio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89320" y="57790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Numerical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9640" y="57790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8 bins + sentinel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144768"/>
            <a:ext cx="11384280" cy="384048"/>
          </a:xfrm>
          <a:prstGeom prst="rect">
            <a:avLst/>
          </a:prstGeom>
          <a:solidFill>
            <a:srgbClr val="F7F9F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616305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</a:rPr>
              <a:t>F5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" y="61630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Debt Service Coverage Ratio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61630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Numerical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49640" y="61630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8 bins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EDA: Key Insights from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00"/>
                </a:solidFill>
              </a:rPr>
              <a:t>Q3 applied — four-step framework reveals critical patterns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2788920" cy="32918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6A8"/>
                </a:solidFill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097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6A8"/>
                </a:solidFill>
              </a:rPr>
              <a:t>(1) Data Quality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078992"/>
            <a:ext cx="2788920" cy="32918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097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6A8"/>
                </a:solidFill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097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6A8"/>
                </a:solidFill>
              </a:rPr>
              <a:t>(2) Univariate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078992"/>
            <a:ext cx="2788920" cy="32918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097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6A8"/>
                </a:solidFill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097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6A8"/>
                </a:solidFill>
              </a:rPr>
              <a:t>(3) Bivariate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1078992"/>
            <a:ext cx="2788920" cy="32918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1097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59" y="1097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(4) WoE &amp; IV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554480"/>
            <a:ext cx="56692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1554480"/>
            <a:ext cx="5669280" cy="32918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1600200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 Quality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" y="1938528"/>
            <a:ext cx="541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8.98% overall default rate — class imbalance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" y="2322576"/>
            <a:ext cx="541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282 nulls in C2 (51%) → treated as "Not available" bin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" y="2706624"/>
            <a:ext cx="541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Sentinel 99999998/99999999 → separate risk bins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" y="3090672"/>
            <a:ext cx="541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No duplicate customer records found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" y="3474720"/>
            <a:ext cx="541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All 5 numerical features are right-skewed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554480"/>
            <a:ext cx="56692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1554480"/>
            <a:ext cx="5669280" cy="32918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1600200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Univariate Findings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1938528"/>
            <a:ext cx="541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C1 "Restructured &lt;6m" → 62.5% default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2322576"/>
            <a:ext cx="541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C3 "Overdue &gt;90d" → 100% default rate (7/7)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2706624"/>
            <a:ext cx="541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F5 DSCR (0, 0.25) → 18.1% default — highest of financials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3090672"/>
            <a:ext cx="541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F3 Sale Growth: flat default rates across ALL bins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3474720"/>
            <a:ext cx="541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Smaller firms (NFA &lt;100M) default at 12–15% vs 0–4% larger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069080"/>
            <a:ext cx="56692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4069080"/>
            <a:ext cx="5669280" cy="32918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" y="4114800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Bivariate Findings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" y="4453128"/>
            <a:ext cx="541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C1, C2, C3 chi-square: p &lt; 0.001 — highly significant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" y="4837176"/>
            <a:ext cx="541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F2 Net Profit Margin: p = 0.176 — NOT significant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" y="5221224"/>
            <a:ext cx="541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F3 Sale Growth: p = 0.758 — NOT significant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" y="5605272"/>
            <a:ext cx="541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C1 &amp; C2 likely correlated (Cramér's V) — co-occurrence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" y="5989320"/>
            <a:ext cx="541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F4 D/E: non-monotone — (0,0.5) riskier than (0.5,1)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069080"/>
            <a:ext cx="56692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4069080"/>
            <a:ext cx="566928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9088" y="4114800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WoE &amp; IV Results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37376" y="4453128"/>
            <a:ext cx="541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C3: IV = 5.43 → Very Strong (dominant predictor)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37376" y="4837176"/>
            <a:ext cx="541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F1: IV = 2.63 → Strong (firm size matters)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37376" y="5221224"/>
            <a:ext cx="541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F5: IV = 1.66 → Strong (debt coverage signal)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37376" y="5605272"/>
            <a:ext cx="541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F4: IV = 1.48 → Strong (non-monotone — rebin needed)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37376" y="5989320"/>
            <a:ext cx="541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F3: IV = 0.62 → Misleading (inverted direction)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Q1: Feature Weight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00"/>
                </a:solidFill>
              </a:rPr>
              <a:t>Methodology: Information Value (IV) as objective measure of discriminatory power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11384280" cy="493776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IV = Σ (%Bad_i − %Good_i) × WoE_i    where    WoE_i = ln(%Bad_i / %Good_i)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988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6A8"/>
                </a:solidFill>
              </a:rPr>
              <a:t>IV &lt; 0.10 = Weak   |   0.10–0.30 = Medium   |   0.30–0.50 = Strong   |   &gt; 0.50 = Very Strong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19072"/>
            <a:ext cx="1046988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373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Expert 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IV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737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IV-based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737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73736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Verdict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048256"/>
            <a:ext cx="10469880" cy="384048"/>
          </a:xfrm>
          <a:prstGeom prst="rect">
            <a:avLst/>
          </a:prstGeom>
          <a:solidFill>
            <a:srgbClr val="FDEDE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066543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A"/>
                </a:solidFill>
              </a:rPr>
              <a:t>C1  Debt Restructuring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066543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12.5%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066543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1.17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2066543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8.3%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066543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−4.2%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66543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Over-weighted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432304"/>
            <a:ext cx="10469880" cy="384048"/>
          </a:xfrm>
          <a:prstGeom prst="rect">
            <a:avLst/>
          </a:prstGeom>
          <a:solidFill>
            <a:srgbClr val="FDEDE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450591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A"/>
                </a:solidFill>
              </a:rPr>
              <a:t>C2  Debt Rescheduling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2450591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12.5%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2450591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0.59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24505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4.2%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450591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−8.3%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2450591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Over-weighted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2816352"/>
            <a:ext cx="10469880" cy="384048"/>
          </a:xfrm>
          <a:prstGeom prst="rect">
            <a:avLst/>
          </a:prstGeom>
          <a:solidFill>
            <a:srgbClr val="E9F7EF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834639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A"/>
                </a:solidFill>
              </a:rPr>
              <a:t>C3  Credit Bureau Delinquency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2834639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25.0%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283463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5.43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28346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38.6%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83463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348"/>
                </a:solidFill>
              </a:rPr>
              <a:t>+13.6%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2834639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348"/>
                </a:solidFill>
              </a:rPr>
              <a:t>Under-weighted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3200400"/>
            <a:ext cx="10469880" cy="384048"/>
          </a:xfrm>
          <a:prstGeom prst="rect">
            <a:avLst/>
          </a:prstGeom>
          <a:solidFill>
            <a:srgbClr val="E9F7EF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3218687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A"/>
                </a:solidFill>
              </a:rPr>
              <a:t>F1  Net Fixed Asset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3218687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10.0%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600" y="3218687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2.63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3218687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18.7%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218687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348"/>
                </a:solidFill>
              </a:rPr>
              <a:t>+ 8.7%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80" y="3218687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348"/>
                </a:solidFill>
              </a:rPr>
              <a:t>Under-weighted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3584448"/>
            <a:ext cx="10469880" cy="384048"/>
          </a:xfrm>
          <a:prstGeom prst="rect">
            <a:avLst/>
          </a:prstGeom>
          <a:solidFill>
            <a:srgbClr val="F7F9F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3602735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A"/>
                </a:solidFill>
              </a:rPr>
              <a:t>F2  Net Profit Margin (%)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7560" y="3602735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10.0%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0600" y="3602735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1.70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7880" y="3602735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12.1%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602735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348"/>
                </a:solidFill>
              </a:rPr>
              <a:t>+ 2.1%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41080" y="3602735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</a:rPr>
              <a:t>Broadly correct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3968496"/>
            <a:ext cx="10469880" cy="384048"/>
          </a:xfrm>
          <a:prstGeom prst="rect">
            <a:avLst/>
          </a:prstGeom>
          <a:solidFill>
            <a:srgbClr val="FEF9E7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3986783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A"/>
                </a:solidFill>
              </a:rPr>
              <a:t>F3  Sale Growth (%)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37560" y="3986783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10.0%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00600" y="3986783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0.62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97880" y="3986783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4.4%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3986783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−5.6%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41080" y="3986783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Misleading — rebin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4352544"/>
            <a:ext cx="10469880" cy="384048"/>
          </a:xfrm>
          <a:prstGeom prst="rect">
            <a:avLst/>
          </a:prstGeom>
          <a:solidFill>
            <a:srgbClr val="F7F9F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4370831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A"/>
                </a:solidFill>
              </a:rPr>
              <a:t>F4  Debt-to-Equity Ratio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37560" y="4370831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10.0%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00600" y="4370831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1.48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97880" y="437083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10.5%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4370831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348"/>
                </a:solidFill>
              </a:rPr>
              <a:t>+ 0.5%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41080" y="4370831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</a:rPr>
              <a:t>Broadly correct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4736592"/>
            <a:ext cx="10469880" cy="384048"/>
          </a:xfrm>
          <a:prstGeom prst="rect">
            <a:avLst/>
          </a:prstGeom>
          <a:solidFill>
            <a:srgbClr val="F7F9F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4754879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A"/>
                </a:solidFill>
              </a:rPr>
              <a:t>F5  Debt Service Coverage Ratio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37560" y="4754879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10.0%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0600" y="475487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1.66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97880" y="475487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11.8%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35240" y="475487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348"/>
                </a:solidFill>
              </a:rPr>
              <a:t>+ 1.8%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41080" y="4754879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</a:rPr>
              <a:t>Broadly correct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1480" y="5138928"/>
            <a:ext cx="11338560" cy="18288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1480" y="52120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Recommended revision:  C (Credit History) → 55%  with  C1: 20%  |  C2: 10%  |  C3: 70%     F (Financial) → 45%  with  F1: 30%  |  F2: 15%  |  F3: Rebin  |  F4: 25%  |  F5: 30%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1480" y="566928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6A8"/>
                </a:solidFill>
              </a:rPr>
              <a:t>Note: F3 Sale Growth is not removed outright — data shows inverted pattern suggesting rebinning and weight reduction before any exclusion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Q1: Supporting Evidence — Default Rates by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00"/>
                </a:solidFill>
              </a:rPr>
              <a:t>Univariate default rates confirm IV rankings — C3 dominates; F3 shows no directional signal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70432"/>
            <a:ext cx="1828800" cy="55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74266"/>
            <a:ext cx="1828800" cy="336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6A8"/>
                </a:solidFill>
              </a:rPr>
              <a:t>C3: Overdue &gt;90d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078992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1170432"/>
            <a:ext cx="1828800" cy="55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</a:rPr>
              <a:t>62.5%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674266"/>
            <a:ext cx="1828800" cy="336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6A8"/>
                </a:solidFill>
              </a:rPr>
              <a:t>C1: Restr. &lt;6 months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078992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170432"/>
            <a:ext cx="1828800" cy="55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39C12"/>
                </a:solidFill>
              </a:rPr>
              <a:t>18.1%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674266"/>
            <a:ext cx="1828800" cy="336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6A8"/>
                </a:solidFill>
              </a:rPr>
              <a:t>F5: DSCR (0, 0.25)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1078992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170432"/>
            <a:ext cx="1828800" cy="55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8A96A8"/>
                </a:solidFill>
              </a:rPr>
              <a:t>11.4%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1674266"/>
            <a:ext cx="1828800" cy="336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6A8"/>
                </a:solidFill>
              </a:rPr>
              <a:t>F3: Growth &gt;30%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19" y="1078992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1170432"/>
            <a:ext cx="1828800" cy="55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8A96A8"/>
                </a:solidFill>
              </a:rPr>
              <a:t> 9.1%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1674266"/>
            <a:ext cx="1828800" cy="336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6A8"/>
                </a:solidFill>
              </a:rPr>
              <a:t>F3: Growth &lt;=0%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41280" y="1078992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1170432"/>
            <a:ext cx="1828800" cy="55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A8A"/>
                </a:solidFill>
              </a:rPr>
              <a:t> 9.0%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674266"/>
            <a:ext cx="1828800" cy="336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6A8"/>
                </a:solidFill>
              </a:rPr>
              <a:t>Overall Portfolio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157984"/>
            <a:ext cx="11338560" cy="18288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2286000"/>
            <a:ext cx="53949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2286000"/>
            <a:ext cx="53949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" y="2331720"/>
            <a:ext cx="51755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C3 — Severely Under-weighted (IV = 5.43)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" y="2670048"/>
            <a:ext cx="5138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Strongest predictor by far — IV 4.6× higher than next feature (F1)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" y="3072384"/>
            <a:ext cx="5138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"Overdue &gt;90d &gt;1yr": 100% default rate across all 7 customers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" y="3474720"/>
            <a:ext cx="5138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"No delinquency": 5.6% default — 18× safer than worst bin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3877056"/>
            <a:ext cx="5138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Chi-square: p &lt; 0.001  |  Clear monotone risk ordering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2286000"/>
            <a:ext cx="57607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2286000"/>
            <a:ext cx="576072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4768" y="2331720"/>
            <a:ext cx="5541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F3 — Misleading Signal (IV = 0.62)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3055" y="2670048"/>
            <a:ext cx="5504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Chi-square p = 0.758 — no statistically significant link to default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63055" y="3072384"/>
            <a:ext cx="5504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Spearman ρ = +0.696 — directionally WRONG (more growth = more default)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3055" y="3474720"/>
            <a:ext cx="5504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High growth firms (&gt;30%) default at 11.4% vs 9.1% for stagnant firms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63055" y="3877056"/>
            <a:ext cx="5504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Possible explanation: aggressive growth may signal financial distress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4407408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4407408"/>
            <a:ext cx="53949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" y="4453128"/>
            <a:ext cx="51755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F4 Debt-to-Equity — Wrong Direction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" y="4791456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(0, 0.5) receives max score (+100 pts) but has 20% default 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" y="516636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(0.5, 1) has 0% default rate but receives only +80 pts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" y="5541264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Very low D/E may indicate under-leveraged, cash-poor SMEs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" y="5916168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Bin redesign required before weight adjustment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4407408"/>
            <a:ext cx="57607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35040" y="4407408"/>
            <a:ext cx="576072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44768" y="4453128"/>
            <a:ext cx="5541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Additional Validation — LR Coefficients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63055" y="4791456"/>
            <a:ext cx="55046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Logistic regression on WoE features confirms C3 is top predictor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63055" y="5166360"/>
            <a:ext cx="55046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C3 coefficient: 0.890 (24.4% implied weight) vs expert 25.0% 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63055" y="5541264"/>
            <a:ext cx="55046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F4, F5 coefficients suggest higher weight than current 10% each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63055" y="5916168"/>
            <a:ext cx="55046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Caution: LR coefficients are log-odds based, not linear importance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Q2: Scorecard Enhancement Suggestions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00"/>
                </a:solidFill>
              </a:rPr>
              <a:t>Six issues identified through monotonicity analysis, WoE calibration, and chi-square significance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566928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97280"/>
            <a:ext cx="73152" cy="17556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" y="1097280"/>
            <a:ext cx="5596128" cy="32918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430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A"/>
                </a:solidFill>
              </a:rPr>
              <a:t>F3 Sale Growth — Inverted Scoring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Default rates are flat (6.8%–11.4%) with no monotone pattern.
High growth firms default more than modest-growth firms.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" y="2167128"/>
            <a:ext cx="5596128" cy="27432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2402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→  Rebin: consider U-shaped bins or significantly reduce weight.
Do not assign +100 pts to highest-growth bin.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566928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097280"/>
            <a:ext cx="73152" cy="17556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82512" y="1097280"/>
            <a:ext cx="5596128" cy="32918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1430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A"/>
                </a:solidFill>
              </a:rPr>
              <a:t>F4 Debt-to-Equity — Peak Bin Scoring 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481328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(0, 0.5) assigned +100 pts despite 20% default rate.
(0.5, 1) has 0% defaults but receives only +80 pts.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82512" y="2167128"/>
            <a:ext cx="5596128" cy="27432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2402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→  Shift maximum score to (0.5, 1) bin.
Redesign bin boundaries around empirical sweet spot.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971800"/>
            <a:ext cx="566928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2971800"/>
            <a:ext cx="73152" cy="17556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" y="2971800"/>
            <a:ext cx="5596128" cy="32918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0175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A"/>
                </a:solidFill>
              </a:rPr>
              <a:t>F2 Net Profit Margin — Non-Monotone at Extremes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355848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&gt;15% margin defaults at 12.0% — same rate as loss-making firms.
Moderate profitability (7.5–15%) is actually safest (0% default).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" y="4041648"/>
            <a:ext cx="5596128" cy="27432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1148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348"/>
                </a:solidFill>
              </a:rPr>
              <a:t>→  Cap maximum score at (7.5, 15) bin.
Reduce score for &gt;15% to reflect actual default rate.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971800"/>
            <a:ext cx="566928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2971800"/>
            <a:ext cx="73152" cy="17556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82512" y="2971800"/>
            <a:ext cx="5596128" cy="32918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0175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A"/>
                </a:solidFill>
              </a:rPr>
              <a:t>C3 Credit Bureau — Ambiguous "Not Performed"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355848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Two entries: "Not performed (exempted)" = +100 pts, 0% default.
"Not performed" = −100 pts, 16.7% default.
200-point gap for visually identical labels.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82512" y="4041648"/>
            <a:ext cx="5596128" cy="27432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1148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348"/>
                </a:solidFill>
              </a:rPr>
              <a:t>→  Document a clear, auditable business rule to distinguish the two.
Consider merging if the distinction cannot be operationalised.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846320"/>
            <a:ext cx="566928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4846320"/>
            <a:ext cx="73152" cy="17556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" y="4846320"/>
            <a:ext cx="5596128" cy="32918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8920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A"/>
                </a:solidFill>
              </a:rPr>
              <a:t>F5 DSCR — Missing Data Scored as Neutral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230368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122 customers with missing DSCR default at 14.8% —
nearly as risky as worst bin — yet receive 0 points (neutral).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" y="5916168"/>
            <a:ext cx="5596128" cy="27432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9893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348"/>
                </a:solidFill>
              </a:rPr>
              <a:t>→  Assign a penalty score comparable to the (0, 0.25) bin.
Missing DSCR is a meaningful risk signal, not neutral data.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846320"/>
            <a:ext cx="566928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4846320"/>
            <a:ext cx="73152" cy="175564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82512" y="4846320"/>
            <a:ext cx="5596128" cy="32918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8920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A"/>
                </a:solidFill>
              </a:rPr>
              <a:t>All Features — Adopt PDO Score Calibration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230368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Current scores use arbitrary round numbers (−100, 0, +75, +100).
PDO framework: Points = −(Factor × β × WoE)
Example: C3 "Overdue &gt;90d" should score −608 vs current −100.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82512" y="5916168"/>
            <a:ext cx="5596128" cy="27432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59893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A"/>
                </a:solidFill>
              </a:rPr>
              <a:t>→  Base=600, PDO=20, Odds=50:1  →  Factor=28.85, Offset=487.1
Provides auditable, mathematically grounded scores for regulators.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Q3: EDA Methodology for Default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00"/>
                </a:solidFill>
              </a:rPr>
              <a:t>Generalised framework applicable to any credit risk dataset with financial, credit history, and macroeconomic variables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2606040" cy="56692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0972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A000"/>
                </a:solidFill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2618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 Quality
&amp; Profiling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120700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A96A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078992"/>
            <a:ext cx="2606040" cy="56692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10972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A000"/>
                </a:solidFill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12618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Univariate
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7608" y="120700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A96A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078992"/>
            <a:ext cx="2606040" cy="56692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0972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A000"/>
                </a:solidFill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12618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Bivariate
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8" y="120700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A96A8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1078992"/>
            <a:ext cx="2606040" cy="56692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7" y="10972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A000"/>
                </a:solidFill>
              </a:rP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7" y="12618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WoE / IV
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1810512"/>
            <a:ext cx="566928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1810512"/>
            <a:ext cx="5669280" cy="32918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" y="1856231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 Quality &amp; Profiling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1945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Identify variable types: categorical, numerical, time-series macro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5603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Assess class imbalance — rare events require balanced modelling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9260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Distinguish true nulls from sentinel values (encode separately)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2918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Check outliers using IQR — more robust than SD for skewed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6576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Skewness: guides bin placement; WoE encoding neutralises raw skew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810512"/>
            <a:ext cx="566928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1810512"/>
            <a:ext cx="5669280" cy="32918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1856231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Univariate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1945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Categorical: default rate + concentration per bin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5603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Numerical: boxplots / histograms split by default flag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9260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Monotonicity: default rate must move consistently across bins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2918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Macro: time-series plot vs portfolio default rate (lagged 1–4Q)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6576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Concentration check: bins with &lt;5% population → unstable WoE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4187952"/>
            <a:ext cx="566928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" y="4187952"/>
            <a:ext cx="5669280" cy="32918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1208" y="4233672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Bivariate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720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Numerical vs default: point-biserial correlation + KS statistic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937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Categorical vs default: chi-square test (p &lt; 0.05 threshold)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3035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Multicollinearity: Pearson matrix + Cramér's V for categoricals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6692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Macro: Granger causality test — does past macro predict default?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0350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Vintage analysis: default rate by origination year → macro effects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187952"/>
            <a:ext cx="566928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60" y="4187952"/>
            <a:ext cx="566928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9088" y="4233672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WoE / IV Analysis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5720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WoE_i = ln(% Bad_i / % Good_i)  →  already in log-odds space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4937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IV = Σ (% Bad − % Good) × WoE  →  ranks feature importance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53035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IV &gt; 0.30: strong predictor | IV &lt; 0.02: exclude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56692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Non-monotone WoE → merge bins before scorecard inclusion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60350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Build WoE maps on training data only — avoid data leakage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Q4: Logistic Regression for PD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00"/>
                </a:solidFill>
              </a:rPr>
              <a:t>Theory, development steps, and underlying assumptions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138428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Why Logistic Regression?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D3A4A"/>
                </a:solidFill>
              </a:rPr>
              <a:t>Linear regression predicts unbounded values — PD must lie in [0,1]. Logistic regression applies the sigmoid to map any input to a valid probability: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170432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</a:rPr>
              <a:t>logit(PD) = ln(PD/1−PD) = β₀ + β₁·WoE₁ + ... + βₙ·WoEₙ     →     PD = 1 / (1 + e^−z)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810512"/>
            <a:ext cx="365760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810512"/>
            <a:ext cx="3657600" cy="310896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85623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1. Data Preparation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2176272"/>
            <a:ext cx="34747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▸  Handle sentinel values as separate bins
▸  Fill nulls → "Not available" category
▸  Define target: Default Flag (0/1)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810512"/>
            <a:ext cx="365760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810512"/>
            <a:ext cx="3657600" cy="310896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185623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2. WoE Encoding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2176272"/>
            <a:ext cx="34747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▸  Replace bins with log-odds values
▸  Linearises LR assumption by construction
▸  Comparable scale — no standardisation needed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19" y="3529584"/>
            <a:ext cx="365760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19" y="3529584"/>
            <a:ext cx="3657600" cy="31089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7" y="3575303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3. Train / Test 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7" y="3895344"/>
            <a:ext cx="34747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▸  Stratified 80/20 split — preserves 9% default rate
▸  5-fold stratified CV preferred given only 50 defaults
▸  Build WoE maps on train set only (avoid leakage)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529584"/>
            <a:ext cx="365760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529584"/>
            <a:ext cx="3657600" cy="31089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3575303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4. Model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" y="3895344"/>
            <a:ext cx="34747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▸  class_weight="balanced" — corrects 9:91 imbalance
▸  L2 regularisation — tune C via grid search
▸  Coefficients should all be positive (WoE encodes direction)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5248656"/>
            <a:ext cx="365760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5248656"/>
            <a:ext cx="3657600" cy="31089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3128" y="52943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5. PDO Calibration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8" y="5614416"/>
            <a:ext cx="34747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▸  Points_i = −(Factor × β_i × WoE_i)
▸  Base=600, PDO=20, Odds=50:1
▸  Factor=28.85, Offset=487.1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9" y="5248656"/>
            <a:ext cx="365760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19" y="5248656"/>
            <a:ext cx="3657600" cy="31089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7" y="52943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6. Score → PD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7" y="5614416"/>
            <a:ext cx="34747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▸  PD = 1 / (1 + e^((score−offset)/factor))
▸  Every +20 pts → odds double → PD halves
▸  Interpretable probability for credit decisions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266944"/>
            <a:ext cx="11338560" cy="18288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32180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6A8"/>
                </a:solidFill>
              </a:rPr>
              <a:t>Key assumptions: Binary Bernoulli outcome  |  Linearity in log-odds (satisfied by WoE)  |  Independence of observations  |  No perfect multicollinearity  |  Sufficient EPV (≥10)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559612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0392B"/>
                </a:solidFill>
              </a:rPr>
              <a:t>Critical limitation: EPV = 50 defaults / 8 features = 6.25 &lt; 10 → coefficients are unstable; hybrid expert-statistical approach mitigates this.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Model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00"/>
                </a:solidFill>
              </a:rPr>
              <a:t>Logistic regression on WoE-encoded features — strong discriminatory power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70432"/>
            <a:ext cx="2651760" cy="55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348"/>
                </a:solidFill>
              </a:rPr>
              <a:t>0.87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74266"/>
            <a:ext cx="2651760" cy="336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6A8"/>
                </a:solidFill>
              </a:rPr>
              <a:t>AUC-ROC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078992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170432"/>
            <a:ext cx="2651760" cy="55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348"/>
                </a:solidFill>
              </a:rPr>
              <a:t>0.74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674266"/>
            <a:ext cx="2651760" cy="336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6A8"/>
                </a:solidFill>
              </a:rPr>
              <a:t>Gini Coefficient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078992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170432"/>
            <a:ext cx="2651760" cy="55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7A8A"/>
                </a:solidFill>
              </a:rPr>
              <a:t>0.82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74266"/>
            <a:ext cx="2651760" cy="336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6A8"/>
                </a:solidFill>
              </a:rPr>
              <a:t>5-Fold CV 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1078992"/>
            <a:ext cx="28346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1170432"/>
            <a:ext cx="2834640" cy="55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2B55"/>
                </a:solidFill>
              </a:rPr>
              <a:t>+441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674266"/>
            <a:ext cx="2834640" cy="336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6A8"/>
                </a:solidFill>
              </a:rPr>
              <a:t>Good vs Bad Score Gap (pts)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157984"/>
            <a:ext cx="11338560" cy="18288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2677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LR-Implied Feature Importance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25146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96A8"/>
                </a:solidFill>
              </a:rPr>
              <a:t>Note: coefficients are log-odds based — IV remains primary basis for weight justification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743200"/>
            <a:ext cx="5577840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76148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39" y="27614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Coefficient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599" y="27614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Implied Weight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035808"/>
            <a:ext cx="5577840" cy="347472"/>
          </a:xfrm>
          <a:prstGeom prst="rect">
            <a:avLst/>
          </a:prstGeom>
          <a:solidFill>
            <a:srgbClr val="E9F7EF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054096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C3  Credit Bureau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054096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0.890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305409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7348"/>
                </a:solidFill>
              </a:rPr>
              <a:t>24.4%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383279"/>
            <a:ext cx="5577840" cy="347472"/>
          </a:xfrm>
          <a:prstGeom prst="rect">
            <a:avLst/>
          </a:prstGeom>
          <a:solidFill>
            <a:srgbClr val="E9F7EF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401568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F4  Debt-to-Equity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3401568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0.754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3401568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7348"/>
                </a:solidFill>
              </a:rPr>
              <a:t>20.7%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730752"/>
            <a:ext cx="5577840" cy="347472"/>
          </a:xfrm>
          <a:prstGeom prst="rect">
            <a:avLst/>
          </a:prstGeom>
          <a:solidFill>
            <a:srgbClr val="E9F7EF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749039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F5  DSCR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3749039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0.583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3749039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7348"/>
                </a:solidFill>
              </a:rPr>
              <a:t>16.0%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4078224"/>
            <a:ext cx="5577840" cy="347472"/>
          </a:xfrm>
          <a:prstGeom prst="rect">
            <a:avLst/>
          </a:prstGeom>
          <a:solidFill>
            <a:srgbClr val="F7F9F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096512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C2  Debt Rescheduling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409651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0.312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600" y="409651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3A4A"/>
                </a:solidFill>
              </a:rPr>
              <a:t> 8.6%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425696"/>
            <a:ext cx="5577840" cy="347472"/>
          </a:xfrm>
          <a:prstGeom prst="rect">
            <a:avLst/>
          </a:prstGeom>
          <a:solidFill>
            <a:srgbClr val="F7F9F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443983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C1  Debt Restructuring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0440" y="4443983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0.308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00600" y="4443983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3A4A"/>
                </a:solidFill>
              </a:rPr>
              <a:t> 8.4%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4773168"/>
            <a:ext cx="5577840" cy="347472"/>
          </a:xfrm>
          <a:prstGeom prst="rect">
            <a:avLst/>
          </a:prstGeom>
          <a:solidFill>
            <a:srgbClr val="FEF9E7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4791456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F3  Sale Growth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0440" y="4791456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0.297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00600" y="479145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 8.1%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5120640"/>
            <a:ext cx="5577840" cy="347472"/>
          </a:xfrm>
          <a:prstGeom prst="rect">
            <a:avLst/>
          </a:prstGeom>
          <a:solidFill>
            <a:srgbClr val="F7F9F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5138928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F1  Net Fixed Asset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20440" y="5138928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0.285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00600" y="5138928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3A4A"/>
                </a:solidFill>
              </a:rPr>
              <a:t> 7.8%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5468112"/>
            <a:ext cx="5577840" cy="347472"/>
          </a:xfrm>
          <a:prstGeom prst="rect">
            <a:avLst/>
          </a:prstGeom>
          <a:solidFill>
            <a:srgbClr val="F7F9F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5486400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F2  Net Profit Margin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20440" y="548640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0.220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00600" y="5486400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3A4A"/>
                </a:solidFill>
              </a:rPr>
              <a:t> 6.0%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72200" y="2267712"/>
            <a:ext cx="557784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72200" y="2267712"/>
            <a:ext cx="557784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81928" y="2313432"/>
            <a:ext cx="53583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Score Distribution by Default Status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0216" y="2651760"/>
            <a:ext cx="53218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▸  Good customers (Default=0):  Mean = 785 pts  |  Median = 551 pts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0216" y="3054096"/>
            <a:ext cx="53218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▸  Bad customers  (Default=1):  Mean = 344 pts  |  Median = 454 pts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0216" y="3456432"/>
            <a:ext cx="53218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▸  Score gap of 441 pts — strong separation between groups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0216" y="3858768"/>
            <a:ext cx="53218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▸  Score range: −335 (riskiest) to +2,321 (safest)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72200" y="4407408"/>
            <a:ext cx="55778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4407408"/>
            <a:ext cx="557784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81928" y="4453128"/>
            <a:ext cx="53583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Score → PD Interpretation (PDO Scale)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0216" y="4791456"/>
            <a:ext cx="5321807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▸  Score 645  →  PD ≈ 1.0%   (very low risk)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0216" y="5166360"/>
            <a:ext cx="5321807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▸  Score 600  →  PD ≈ 2.0%   (base: 50:1 good:bad odds)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0216" y="5541264"/>
            <a:ext cx="5321807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▸  Score 572  →  PD ≈ 5.0%   (moderate risk)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0216" y="5916168"/>
            <a:ext cx="5321807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▸  Score 511  →  PD ≈ 20.0%  (high risk)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Q5: Model Performance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00"/>
                </a:solidFill>
              </a:rPr>
              <a:t>Three pillars: Discriminatory Power  |  Goodness-of-Fit  |  Forecasting Accuracy &amp; Stability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3657600" cy="5349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78992"/>
            <a:ext cx="3657600" cy="38404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" y="110642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Discriminatory Power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" y="1572768"/>
            <a:ext cx="3401568" cy="1024128"/>
          </a:xfrm>
          <a:prstGeom prst="rect">
            <a:avLst/>
          </a:prstGeom>
          <a:solidFill>
            <a:srgbClr val="F7F9F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62763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A"/>
                </a:solidFill>
              </a:rPr>
              <a:t>AUC-ROC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865376"/>
            <a:ext cx="32004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6A8"/>
                </a:solidFill>
              </a:rPr>
              <a:t>Area under ROC curve. Target &gt; 0.75.
Model AUC = 0.87 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" y="2761488"/>
            <a:ext cx="3401568" cy="1024128"/>
          </a:xfrm>
          <a:prstGeom prst="rect">
            <a:avLst/>
          </a:prstGeom>
          <a:solidFill>
            <a:srgbClr val="F7F9F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81635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A"/>
                </a:solidFill>
              </a:rPr>
              <a:t>Gini Coefficient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3054096"/>
            <a:ext cx="32004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6A8"/>
                </a:solidFill>
              </a:rPr>
              <a:t>2 × AUC − 1 = 0.74.
Measures rank-ordering 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" y="3950208"/>
            <a:ext cx="3401568" cy="1024128"/>
          </a:xfrm>
          <a:prstGeom prst="rect">
            <a:avLst/>
          </a:prstGeom>
          <a:solidFill>
            <a:srgbClr val="F7F9F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400507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A"/>
                </a:solidFill>
              </a:rPr>
              <a:t>KS Statistic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4242816"/>
            <a:ext cx="32004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6A8"/>
                </a:solidFill>
              </a:rPr>
              <a:t>Max separation between good and
bad cumulative distributions.
Target KS &gt; 0.30.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" y="5138928"/>
            <a:ext cx="3401568" cy="1024128"/>
          </a:xfrm>
          <a:prstGeom prst="rect">
            <a:avLst/>
          </a:prstGeom>
          <a:solidFill>
            <a:srgbClr val="F7F9F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519379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A"/>
                </a:solidFill>
              </a:rPr>
              <a:t>Lorenz Curve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5431536"/>
            <a:ext cx="32004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6A8"/>
                </a:solidFill>
              </a:rPr>
              <a:t>Visual representation of how well
the model concentrates defaults
in the lower score deciles.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1078992"/>
            <a:ext cx="3657600" cy="5349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1078992"/>
            <a:ext cx="365760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1416" y="110642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Goodness of Fit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71416" y="1572768"/>
            <a:ext cx="3401568" cy="1024128"/>
          </a:xfrm>
          <a:prstGeom prst="rect">
            <a:avLst/>
          </a:prstGeom>
          <a:solidFill>
            <a:srgbClr val="F7F9F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81144" y="162763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A"/>
                </a:solidFill>
              </a:rPr>
              <a:t>Log-Likelihood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144" y="1865376"/>
            <a:ext cx="32004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6A8"/>
                </a:solidFill>
              </a:rPr>
              <a:t>How well the model fits observed
defaults. Higher is better.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71416" y="2761488"/>
            <a:ext cx="3401568" cy="1024128"/>
          </a:xfrm>
          <a:prstGeom prst="rect">
            <a:avLst/>
          </a:prstGeom>
          <a:solidFill>
            <a:srgbClr val="F7F9F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81144" y="281635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A"/>
                </a:solidFill>
              </a:rPr>
              <a:t>AIC / BIC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1144" y="3054096"/>
            <a:ext cx="32004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6A8"/>
                </a:solidFill>
              </a:rPr>
              <a:t>Penalises complexity — use to
compare models with different
lag structures or feature sets.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71416" y="3950208"/>
            <a:ext cx="3401568" cy="1024128"/>
          </a:xfrm>
          <a:prstGeom prst="rect">
            <a:avLst/>
          </a:prstGeom>
          <a:solidFill>
            <a:srgbClr val="F7F9F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81144" y="400507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A"/>
                </a:solidFill>
              </a:rPr>
              <a:t>Hosmer-Lemeshow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1144" y="4242816"/>
            <a:ext cx="32004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6A8"/>
                </a:solidFill>
              </a:rPr>
              <a:t>Tests if predicted PD equals
actual default rate across
decile groups. p &gt; 0.05 = pass.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71416" y="5138928"/>
            <a:ext cx="3401568" cy="1024128"/>
          </a:xfrm>
          <a:prstGeom prst="rect">
            <a:avLst/>
          </a:prstGeom>
          <a:solidFill>
            <a:srgbClr val="F7F9F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81144" y="519379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A"/>
                </a:solidFill>
              </a:rPr>
              <a:t>Calibration Curve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5431536"/>
            <a:ext cx="32004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6A8"/>
                </a:solidFill>
              </a:rPr>
              <a:t>Plots predicted PD vs observed
default rate — checks if PD
estimates are well-calibrated.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19" y="1078992"/>
            <a:ext cx="3657600" cy="5349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75319" y="1078992"/>
            <a:ext cx="3657600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03336" y="110642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Forecasting Accuracy
&amp; Stability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03336" y="1572768"/>
            <a:ext cx="3401568" cy="1024128"/>
          </a:xfrm>
          <a:prstGeom prst="rect">
            <a:avLst/>
          </a:prstGeom>
          <a:solidFill>
            <a:srgbClr val="F7F9F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13063" y="162763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A"/>
                </a:solidFill>
              </a:rPr>
              <a:t>Confusion Matrix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13063" y="1865376"/>
            <a:ext cx="32004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6A8"/>
                </a:solidFill>
              </a:rPr>
              <a:t>TP, FP, FN, TN — basis for
sensitivity and precision metrics.
Target sensitivity ≥ 80%.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03336" y="2761488"/>
            <a:ext cx="3401568" cy="1024128"/>
          </a:xfrm>
          <a:prstGeom prst="rect">
            <a:avLst/>
          </a:prstGeom>
          <a:solidFill>
            <a:srgbClr val="F7F9F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13063" y="281635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A"/>
                </a:solidFill>
              </a:rPr>
              <a:t>PSI (Stability)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13063" y="3054096"/>
            <a:ext cx="32004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6A8"/>
                </a:solidFill>
              </a:rPr>
              <a:t>Population Stability Index.
PSI &lt; 0.10 = stable distribution.
PSI &gt; 0.20 = significant drift.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03336" y="3950208"/>
            <a:ext cx="3401568" cy="1024128"/>
          </a:xfrm>
          <a:prstGeom prst="rect">
            <a:avLst/>
          </a:prstGeom>
          <a:solidFill>
            <a:srgbClr val="F7F9F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13063" y="400507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A"/>
                </a:solidFill>
              </a:rPr>
              <a:t>Backtesting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13063" y="4242816"/>
            <a:ext cx="32004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6A8"/>
                </a:solidFill>
              </a:rPr>
              <a:t>Compare predicted PD to realised
default rates over time.
Required under Basel II / IFRS 9.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03336" y="5138928"/>
            <a:ext cx="3401568" cy="1024128"/>
          </a:xfrm>
          <a:prstGeom prst="rect">
            <a:avLst/>
          </a:prstGeom>
          <a:solidFill>
            <a:srgbClr val="F7F9FC"/>
          </a:solidFill>
          <a:ln w="381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13063" y="519379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A"/>
                </a:solidFill>
              </a:rPr>
              <a:t>Score Distribution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13063" y="5431536"/>
            <a:ext cx="32004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6A8"/>
                </a:solidFill>
              </a:rPr>
              <a:t>Monitor score distributions over
time — flag shifts in customer
risk profile or data drift.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6473952"/>
            <a:ext cx="11338560" cy="18288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653796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6A8"/>
                </a:solidFill>
              </a:rPr>
              <a:t>Validation note: With only 50 defaults, use 5-fold stratified CV + bootstrap confidence intervals for AUC. A single 80/20 split is insufficient for reliable performance estimation.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9788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A000"/>
                </a:solidFill>
              </a:rPr>
              <a:t>Actionable findings to strengthen the SME credit scorecard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115568"/>
            <a:ext cx="3566160" cy="2029968"/>
          </a:xfrm>
          <a:prstGeom prst="rect">
            <a:avLst/>
          </a:prstGeom>
          <a:solidFill>
            <a:srgbClr val="102848"/>
          </a:solidFill>
          <a:ln w="1905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115568"/>
            <a:ext cx="502920" cy="202996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847088"/>
            <a:ext cx="4023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207008"/>
            <a:ext cx="28986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Reweight C3 Credit Bureau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00784"/>
            <a:ext cx="28986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CF1"/>
                </a:solidFill>
              </a:rPr>
              <a:t>Increase weight from 25% to ~38% based on IV=5.43.
C3 is the single most predictive feature — 4× the IV of the next best.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53128" y="1115568"/>
            <a:ext cx="3566160" cy="2029968"/>
          </a:xfrm>
          <a:prstGeom prst="rect">
            <a:avLst/>
          </a:prstGeom>
          <a:solidFill>
            <a:srgbClr val="102848"/>
          </a:solidFill>
          <a:ln w="1905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1115568"/>
            <a:ext cx="502920" cy="202996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847088"/>
            <a:ext cx="4023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1207008"/>
            <a:ext cx="28986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Reweight &amp; Rebin F3 Sale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1700784"/>
            <a:ext cx="28986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CF1"/>
                </a:solidFill>
              </a:rPr>
              <a:t>Reduce weight significantly and rebin.
Current scoring direction is inverted — aggressive growth correlates with higher default.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11896" y="3401568"/>
            <a:ext cx="3566160" cy="2029968"/>
          </a:xfrm>
          <a:prstGeom prst="rect">
            <a:avLst/>
          </a:prstGeom>
          <a:solidFill>
            <a:srgbClr val="102848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11896" y="3401568"/>
            <a:ext cx="502920" cy="20299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133087"/>
            <a:ext cx="4023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3493008"/>
            <a:ext cx="28986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Fix F4 Debt-to-Equity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6256" y="3986783"/>
            <a:ext cx="28986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CF1"/>
                </a:solidFill>
              </a:rPr>
              <a:t>Redesign bins so (0.5, 1) receives maximum score.
Current peak bin (0, 0.5) has 20% default rate — the worst outcome.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401568"/>
            <a:ext cx="3566160" cy="2029968"/>
          </a:xfrm>
          <a:prstGeom prst="rect">
            <a:avLst/>
          </a:prstGeom>
          <a:solidFill>
            <a:srgbClr val="102848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401568"/>
            <a:ext cx="502920" cy="20299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" y="4133087"/>
            <a:ext cx="4023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493008"/>
            <a:ext cx="28986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Adopt PDO Score Calibration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986783"/>
            <a:ext cx="28986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CF1"/>
                </a:solidFill>
              </a:rPr>
              <a:t>Replace arbitrary expert scores with PDO-calibrated points.
Provides auditable, mathematically grounded output for regulatory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53128" y="5687568"/>
            <a:ext cx="3566160" cy="2029968"/>
          </a:xfrm>
          <a:prstGeom prst="rect">
            <a:avLst/>
          </a:prstGeom>
          <a:solidFill>
            <a:srgbClr val="102848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53128" y="5687568"/>
            <a:ext cx="502920" cy="20299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6419088"/>
            <a:ext cx="4023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7488" y="5779007"/>
            <a:ext cx="28986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Address EPV Constraint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6272783"/>
            <a:ext cx="28986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CF1"/>
                </a:solidFill>
              </a:rPr>
              <a:t>50 defaults / 8 features = 6.25 EPV (below threshold of 10).
Reduce features, increase regularisation (C=0.1), use 5-fold CV.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11896" y="5687568"/>
            <a:ext cx="3566160" cy="2029968"/>
          </a:xfrm>
          <a:prstGeom prst="rect">
            <a:avLst/>
          </a:prstGeom>
          <a:solidFill>
            <a:srgbClr val="102848"/>
          </a:solidFill>
          <a:ln w="19050">
            <a:solidFill>
              <a:srgbClr val="1A7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11896" y="5687568"/>
            <a:ext cx="502920" cy="2029968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6419088"/>
            <a:ext cx="4023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06256" y="5779007"/>
            <a:ext cx="28986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Extend to Macro Variable 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6272783"/>
            <a:ext cx="28986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CF1"/>
                </a:solidFill>
              </a:rPr>
              <a:t>Dataset lacks time dimension — recommend adding GDP growth (lag 4Q)
and interest rate as overlay for IFRS 9 forward-looking stress testing.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98932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E8A000"/>
                </a:solidFill>
              </a:rPr>
              <a:t>The hybrid expert-statistical approach is the appropriate framework given the limited default sample. Data analysis provides the objective evidence; expert judgement provides the stable anchor.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