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8" r:id="rId4"/>
    <p:sldId id="259" r:id="rId5"/>
    <p:sldId id="261" r:id="rId6"/>
    <p:sldId id="260" r:id="rId7"/>
    <p:sldId id="262" r:id="rId8"/>
    <p:sldId id="272" r:id="rId9"/>
    <p:sldId id="273" r:id="rId10"/>
    <p:sldId id="264" r:id="rId11"/>
    <p:sldId id="265" r:id="rId12"/>
    <p:sldId id="267" r:id="rId13"/>
    <p:sldId id="268" r:id="rId14"/>
    <p:sldId id="275" r:id="rId15"/>
  </p:sldIdLst>
  <p:sldSz cx="12188825" cy="6858000" type="screen4x3"/>
  <p:notesSz cx="9144000" cy="6858000"/>
  <p:embeddedFontLst>
    <p:embeddedFont>
      <p:font typeface="DejaVu Math TeX Gyre" panose="02000503000000000000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834640"/>
            <a:ext cx="11868912" cy="6400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SME Credit Scorecard Development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515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600" b="0">
                <a:solidFill>
                  <a:srgbClr val="E8A000"/>
                </a:solidFill>
              </a:rPr>
              <a:t>SR&amp;T Senior Consultant, Regulatory &amp; Financial Risk: </a:t>
            </a:r>
            <a:r>
              <a:rPr lang="en-US" sz="1600" b="0">
                <a:solidFill>
                  <a:srgbClr val="E8A000"/>
                </a:solidFill>
              </a:rPr>
              <a:t>Risk Modelling</a:t>
            </a:r>
            <a:endParaRPr lang="en-US" sz="1600" b="0">
              <a:solidFill>
                <a:srgbClr val="E8A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5156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>
                <a:solidFill>
                  <a:srgbClr val="CCCCCC"/>
                </a:solidFill>
                <a:sym typeface="+mn-ea"/>
              </a:rPr>
              <a:t>Le Thi Kim Ngan </a:t>
            </a:r>
            <a:r>
              <a:rPr sz="1300">
                <a:solidFill>
                  <a:srgbClr val="CCCCCC"/>
                </a:solidFill>
                <a:sym typeface="+mn-ea"/>
              </a:rPr>
              <a:t>| </a:t>
            </a:r>
            <a:r>
              <a:rPr sz="1300">
                <a:solidFill>
                  <a:srgbClr val="CCCCCC"/>
                </a:solidFill>
                <a:sym typeface="+mn-ea"/>
              </a:rPr>
              <a:t>Candidate Presentation</a:t>
            </a:r>
            <a:r>
              <a:rPr sz="1300" b="0">
                <a:solidFill>
                  <a:srgbClr val="CCCCCC"/>
                </a:solidFill>
              </a:rPr>
              <a:t> </a:t>
            </a:r>
            <a:endParaRPr lang="en-US" sz="1300" b="0">
              <a:solidFill>
                <a:srgbClr val="CCCCCC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753110" y="6375400"/>
            <a:ext cx="10515600" cy="2914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lang="en-US" sz="1300" b="0">
                <a:solidFill>
                  <a:srgbClr val="CCCCCC"/>
                </a:solidFill>
              </a:rPr>
              <a:t>March 2026</a:t>
            </a:r>
            <a:endParaRPr lang="en-US" sz="1300" b="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Background &amp; Data Overview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SME portfolio scorecard — expert-weighted system under review</a:t>
            </a:r>
            <a:endParaRPr sz="1100" b="0">
              <a:solidFill>
                <a:srgbClr val="E8A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Context</a:t>
            </a:r>
            <a:endParaRPr sz="1200" b="1">
              <a:solidFill>
                <a:srgbClr val="0D2B55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11457432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Dataset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557 SME borrowers, 8 features, 9.0% default rate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04825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Target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03120" y="2048256"/>
            <a:ext cx="3474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Default Flag (1 = default, 0 = </a:t>
            </a:r>
            <a:r>
              <a:rPr lang="en-US" sz="900" b="0">
                <a:solidFill>
                  <a:srgbClr val="0D2B55"/>
                </a:solidFill>
              </a:rPr>
              <a:t>non default</a:t>
            </a:r>
            <a:r>
              <a:rPr sz="900" b="0">
                <a:solidFill>
                  <a:srgbClr val="0D2B55"/>
                </a:solidFill>
              </a:rPr>
              <a:t>)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4048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Scorecard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03120" y="2404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Expert-weighted, C + F components, score per bin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C Component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03120" y="2761488"/>
            <a:ext cx="3474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50% weight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311810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F Component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03120" y="31181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50% weight: F1–F5 financial ratios equally at 10% each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Missing Data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03120" y="34747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C2: 282 NaN (51%), Net Fixed Asset: 26 (5%)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383133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Sentinels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03120" y="3831336"/>
            <a:ext cx="3474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99999998/99999999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Objective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03120" y="4187952"/>
            <a:ext cx="34747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Assess expert weights using</a:t>
            </a:r>
            <a:r>
              <a:rPr lang="en-US" sz="900" b="0">
                <a:solidFill>
                  <a:srgbClr val="0D2B55"/>
                </a:solidFill>
              </a:rPr>
              <a:t> quantitative analysis</a:t>
            </a:r>
            <a:r>
              <a:rPr sz="900" b="0">
                <a:solidFill>
                  <a:srgbClr val="0D2B55"/>
                </a:solidFill>
              </a:rPr>
              <a:t> ; develop LR-based PD model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943600" y="1143000"/>
            <a:ext cx="58978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Feature Summary</a:t>
            </a:r>
            <a:endParaRPr sz="1200" b="1">
              <a:solidFill>
                <a:srgbClr val="0D2B55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5760" y="1572768"/>
            <a:ext cx="11457432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22645" y="1691640"/>
            <a:ext cx="50038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B55"/>
                </a:solidFill>
              </a:rPr>
              <a:t>Code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0" y="16916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B55"/>
                </a:solidFill>
              </a:rPr>
              <a:t>Feature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95360" y="16916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B55"/>
                </a:solidFill>
              </a:rPr>
              <a:t>Type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75520" y="16916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B55"/>
                </a:solidFill>
              </a:rPr>
              <a:t>IV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698480" y="16916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B55"/>
                </a:solidFill>
              </a:rPr>
              <a:t>Expert Wt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61888" y="2029968"/>
            <a:ext cx="5833872" cy="30175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2057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C1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00800" y="20574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Debt Restructuring History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95360" y="20574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Cat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875520" y="20574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1.17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698480" y="20574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12.5%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961888" y="2350008"/>
            <a:ext cx="583387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2377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C2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0" y="2377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Debt Rescheduling History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595360" y="23774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Cat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875520" y="23774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0.57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698480" y="23774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12.5%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961888" y="2670048"/>
            <a:ext cx="5833872" cy="30175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2697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C3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00800" y="26974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Worst CB Delinquency 2yr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595360" y="26974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Cat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75520" y="26974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5.43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698480" y="26974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25.0%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961888" y="2990088"/>
            <a:ext cx="583387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F1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00800" y="30175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Net Fixed Asset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95360" y="30175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Num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875520" y="30175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2.60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98480" y="30175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10.0%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961888" y="3310128"/>
            <a:ext cx="5833872" cy="30175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89320" y="3337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F2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00800" y="33375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Net Profit Margin (%)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595360" y="33375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Num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875520" y="33375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1.28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698480" y="33375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10.0%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961888" y="3630168"/>
            <a:ext cx="583387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89320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F3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400800" y="3657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Sale Growth (%)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595360" y="3657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Num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875520" y="3657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0392B"/>
                </a:solidFill>
              </a:rPr>
              <a:t>0.04</a:t>
            </a:r>
            <a:endParaRPr sz="800" b="0">
              <a:solidFill>
                <a:srgbClr val="C0392B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698480" y="3657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10.0%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5961888" y="3950207"/>
            <a:ext cx="5833872" cy="30175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89320" y="39776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F4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400800" y="397763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Debt-to-Equity Ratio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595360" y="39776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Num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875520" y="3977639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1.46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698480" y="3977639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10.0%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5961888" y="4270247"/>
            <a:ext cx="583387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89320" y="42976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F5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00800" y="429767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Debt Service Coverage Ratio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595360" y="42976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Num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875520" y="4297679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1.58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698480" y="4297679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10.0%</a:t>
            </a:r>
            <a:endParaRPr sz="800" b="0">
              <a:solidFill>
                <a:srgbClr val="0D2B5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EDA: Univariate Analysis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Distribution and default rates across categorical and numerical features</a:t>
            </a:r>
            <a:endParaRPr sz="1100" b="0">
              <a:solidFill>
                <a:srgbClr val="E8A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6720" y="1143000"/>
            <a:ext cx="379476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261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Key Observations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38328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</a:t>
            </a:r>
            <a:r>
              <a:rPr lang="en-US" sz="850" b="1">
                <a:solidFill>
                  <a:srgbClr val="007A8A"/>
                </a:solidFill>
              </a:rPr>
              <a:t>F</a:t>
            </a:r>
            <a:r>
              <a:rPr sz="850" b="1">
                <a:solidFill>
                  <a:srgbClr val="007A8A"/>
                </a:solidFill>
              </a:rPr>
              <a:t>1 </a:t>
            </a:r>
            <a:r>
              <a:rPr lang="en-US" sz="850" b="1">
                <a:solidFill>
                  <a:srgbClr val="007A8A"/>
                </a:solidFill>
              </a:rPr>
              <a:t>-</a:t>
            </a:r>
            <a:r>
              <a:rPr sz="850" b="1">
                <a:solidFill>
                  <a:srgbClr val="007A8A"/>
                </a:solidFill>
              </a:rPr>
              <a:t> </a:t>
            </a:r>
            <a:r>
              <a:rPr lang="en-US" sz="850" b="1">
                <a:solidFill>
                  <a:srgbClr val="007A8A"/>
                </a:solidFill>
              </a:rPr>
              <a:t>Net Fix Asset</a:t>
            </a:r>
            <a:endParaRPr lang="en-US" sz="850" b="1">
              <a:solidFill>
                <a:srgbClr val="007A8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0" y="1892808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>
                <a:solidFill>
                  <a:srgbClr val="0D2B55"/>
                </a:solidFill>
              </a:rPr>
              <a:t>Data have high variance and outliers. Fix asset of firms that not defaults have higher mean</a:t>
            </a:r>
            <a:endParaRPr lang="en-US" sz="800" b="0">
              <a:solidFill>
                <a:srgbClr val="0D2B5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0" y="2916936"/>
            <a:ext cx="338328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</a:t>
            </a:r>
            <a:r>
              <a:rPr lang="en-US" sz="850" b="1">
                <a:solidFill>
                  <a:srgbClr val="007A8A"/>
                </a:solidFill>
              </a:rPr>
              <a:t>F2 - </a:t>
            </a:r>
            <a:r>
              <a:rPr sz="850" b="1">
                <a:solidFill>
                  <a:srgbClr val="007A8A"/>
                </a:solidFill>
              </a:rPr>
              <a:t>Net Profit Margin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0" y="3118104"/>
            <a:ext cx="338328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Heavy left-skew, median near -8%; most SMEs unprofitable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0" y="3529584"/>
            <a:ext cx="338328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</a:t>
            </a:r>
            <a:r>
              <a:rPr lang="en-US" sz="850" b="1">
                <a:solidFill>
                  <a:srgbClr val="007A8A"/>
                </a:solidFill>
              </a:rPr>
              <a:t>F3 - </a:t>
            </a:r>
            <a:r>
              <a:rPr sz="850" b="1">
                <a:solidFill>
                  <a:srgbClr val="007A8A"/>
                </a:solidFill>
              </a:rPr>
              <a:t>Sale Growth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0" y="3730752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>
                <a:solidFill>
                  <a:srgbClr val="0D2B55"/>
                </a:solidFill>
              </a:rPr>
              <a:t>Quantile 1 and 3 of defaulter and non defaulter are approximately the same, </a:t>
            </a:r>
            <a:r>
              <a:rPr sz="800" b="0">
                <a:solidFill>
                  <a:srgbClr val="0D2B55"/>
                </a:solidFill>
              </a:rPr>
              <a:t>many zero-growth observations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0" y="2284222"/>
            <a:ext cx="338328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</a:t>
            </a:r>
            <a:r>
              <a:rPr lang="en-US" sz="850" b="1">
                <a:solidFill>
                  <a:srgbClr val="007A8A"/>
                </a:solidFill>
              </a:rPr>
              <a:t>F4 - </a:t>
            </a:r>
            <a:r>
              <a:rPr sz="850" b="1">
                <a:solidFill>
                  <a:srgbClr val="007A8A"/>
                </a:solidFill>
              </a:rPr>
              <a:t>DSCR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0" y="248539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Defaulters concentrated at </a:t>
            </a:r>
            <a:r>
              <a:rPr lang="en-US" sz="800" b="0">
                <a:solidFill>
                  <a:srgbClr val="0D2B55"/>
                </a:solidFill>
              </a:rPr>
              <a:t>lower </a:t>
            </a:r>
            <a:r>
              <a:rPr sz="800" b="0">
                <a:solidFill>
                  <a:srgbClr val="0D2B55"/>
                </a:solidFill>
              </a:rPr>
              <a:t>DSCR; non-defaulters spread across positive values</a:t>
            </a:r>
            <a:endParaRPr sz="800" b="0">
              <a:solidFill>
                <a:srgbClr val="0D2B55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70" y="1143000"/>
            <a:ext cx="7459345" cy="4664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EDA: Monotonicity Analysis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562356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733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Monotonicity Findings:</a:t>
            </a:r>
            <a:endParaRPr sz="1000" b="1">
              <a:solidFill>
                <a:srgbClr val="0D2B55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6053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C1 Restructuring: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6255385"/>
            <a:ext cx="3657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Non-monotone: "Never restructured" has lower WoE than "No history" </a:t>
            </a:r>
            <a:r>
              <a:rPr lang="en-US" sz="800" b="0">
                <a:solidFill>
                  <a:srgbClr val="0D2B55"/>
                </a:solidFill>
              </a:rPr>
              <a:t>-</a:t>
            </a:r>
            <a:r>
              <a:rPr sz="800" b="0">
                <a:solidFill>
                  <a:srgbClr val="0D2B55"/>
                </a:solidFill>
              </a:rPr>
              <a:t> bins should be merged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06240" y="6053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C3 CB Delinquency: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06240" y="6263640"/>
            <a:ext cx="36576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Broadly monotone: longer overdue → higher WoE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46720" y="6053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F4 D/E Ratio: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6720" y="6263640"/>
            <a:ext cx="36576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Partially monotone; (0.5,1) bin has zero defaults </a:t>
            </a:r>
            <a:endParaRPr sz="800" b="0">
              <a:solidFill>
                <a:srgbClr val="0D2B55"/>
              </a:solidFill>
            </a:endParaRPr>
          </a:p>
        </p:txBody>
      </p:sp>
      <p:pic>
        <p:nvPicPr>
          <p:cNvPr id="16" name="Picture 15" descr="eda_monotonicit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25" y="1129030"/>
            <a:ext cx="10973435" cy="44240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EDA: Correlation &amp; Multicollinearity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Pearson correlation for numerical features; Cramér's V for categorical pairs</a:t>
            </a:r>
            <a:endParaRPr sz="1100" b="0">
              <a:solidFill>
                <a:srgbClr val="E8A000"/>
              </a:solidFill>
            </a:endParaRPr>
          </a:p>
        </p:txBody>
      </p:sp>
      <p:pic>
        <p:nvPicPr>
          <p:cNvPr id="7" name="Picture 6" descr="eda_corre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5943600" cy="4114800"/>
          </a:xfrm>
          <a:prstGeom prst="rect">
            <a:avLst/>
          </a:prstGeom>
        </p:spPr>
      </p:pic>
      <p:pic>
        <p:nvPicPr>
          <p:cNvPr id="8" name="Picture 7" descr="eda_cramers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43000"/>
            <a:ext cx="3291840" cy="2743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92240" y="4023360"/>
            <a:ext cx="534924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4133087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Multicollinearity Findings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4480560"/>
            <a:ext cx="502920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Cramér's V: moderate correlation among credit history features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0" y="4810760"/>
            <a:ext cx="502920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Net Profit Margin and </a:t>
            </a:r>
            <a:r>
              <a:rPr lang="en-US" sz="850" b="0">
                <a:solidFill>
                  <a:srgbClr val="0D2B55"/>
                </a:solidFill>
              </a:rPr>
              <a:t>Net FIx Asset</a:t>
            </a:r>
            <a:r>
              <a:rPr sz="850" b="0">
                <a:solidFill>
                  <a:srgbClr val="0D2B55"/>
                </a:solidFill>
              </a:rPr>
              <a:t> show weak correlation 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0" y="5036185"/>
            <a:ext cx="502920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No severe multicollinearity</a:t>
            </a:r>
            <a:endParaRPr sz="850" b="0">
              <a:solidFill>
                <a:srgbClr val="0D2B5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Q1: Feature Weight Assessment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>
                <a:solidFill>
                  <a:srgbClr val="E8A000"/>
                </a:solidFill>
              </a:rPr>
              <a:t>Apprach 1: </a:t>
            </a:r>
            <a:r>
              <a:rPr sz="1100" b="0">
                <a:solidFill>
                  <a:srgbClr val="E8A000"/>
                </a:solidFill>
              </a:rPr>
              <a:t>Information Value (IV) as objective measure vs expert-assigned weights</a:t>
            </a:r>
            <a:endParaRPr sz="1100" b="0">
              <a:solidFill>
                <a:srgbClr val="E8A000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08990" y="4937760"/>
            <a:ext cx="728345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4260" y="5047615"/>
            <a:ext cx="694372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Recommendation: Proposed Weight Rebalancing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58545" y="5349240"/>
            <a:ext cx="694944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Using IV to assess predictive power: 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- Sale Growth (IV=0.04) shows negligible signal and </a:t>
            </a:r>
            <a:r>
              <a:rPr lang="en-US" altLang="en-US" sz="1000" b="1">
                <a:solidFill>
                  <a:srgbClr val="0D2B55"/>
                </a:solidFill>
              </a:rPr>
              <a:t>should be removed</a:t>
            </a:r>
            <a:r>
              <a:rPr lang="en-US" altLang="en-US" sz="1000" b="0">
                <a:solidFill>
                  <a:srgbClr val="0D2B55"/>
                </a:solidFill>
              </a:rPr>
              <a:t>.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- F1_Net Fixed Asset outperform F2_Net Profit Margin and  F4_Dept-to-Equity Ratio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- C1_Dept restructuring history have more predictive power than C2_Dept rescheduling history (reschedule)</a:t>
            </a:r>
            <a:endParaRPr lang="en-US" altLang="en-US" sz="1000" b="0">
              <a:solidFill>
                <a:srgbClr val="0D2B55"/>
              </a:solidFill>
            </a:endParaRP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90" y="1207135"/>
            <a:ext cx="7315200" cy="34315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" name="Text Box 62"/>
          <p:cNvSpPr txBox="1"/>
          <p:nvPr/>
        </p:nvSpPr>
        <p:spPr>
          <a:xfrm>
            <a:off x="8124190" y="1478915"/>
            <a:ext cx="2353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900" i="1"/>
              <a:t>(*) IV calculation and ranking from book Intelligent credit scoring - Naeem Siddiqi </a:t>
            </a:r>
            <a:endParaRPr lang="en-US" sz="900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√</a:t>
            </a:r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Q1: Feature Weight Assessment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>
                <a:solidFill>
                  <a:srgbClr val="E8A000"/>
                </a:solidFill>
              </a:rPr>
              <a:t>Approach 2: Calculating </a:t>
            </a:r>
            <a:r>
              <a:rPr sz="1100" b="0">
                <a:solidFill>
                  <a:srgbClr val="E8A000"/>
                </a:solidFill>
              </a:rPr>
              <a:t>weights</a:t>
            </a:r>
            <a:r>
              <a:rPr lang="en-US" sz="1100" b="0">
                <a:solidFill>
                  <a:srgbClr val="E8A000"/>
                </a:solidFill>
              </a:rPr>
              <a:t> using linear regression model</a:t>
            </a:r>
            <a:endParaRPr lang="en-US" sz="1100" b="0">
              <a:solidFill>
                <a:srgbClr val="E8A000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94715" y="4796155"/>
            <a:ext cx="7806690" cy="16554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4260" y="5047615"/>
            <a:ext cx="694372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Recommendation: Proposed Weight Rebalancing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58545" y="5349240"/>
            <a:ext cx="69494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000" b="1">
                <a:solidFill>
                  <a:srgbClr val="0D2B55"/>
                </a:solidFill>
              </a:rPr>
              <a:t>Increase weights on highest-impact leverage</a:t>
            </a:r>
            <a:endParaRPr lang="en-US" altLang="en-US" sz="1000" b="1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(1) Debt-to-Equity Ratio - second strongest predictive feature (currently underweighted by ~12 %)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(2) Debt Service Coverage Ratio (DSCR) - underweighted by ~ 6%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r>
              <a:rPr lang="en-US" altLang="en-US" sz="1000" b="1">
                <a:solidFill>
                  <a:srgbClr val="0D2B55"/>
                </a:solidFill>
              </a:rPr>
              <a:t>Decrease weights on features</a:t>
            </a:r>
            <a:endParaRPr lang="en-US" altLang="en-US" sz="1000" b="1">
              <a:solidFill>
                <a:srgbClr val="0D2B55"/>
              </a:solidFill>
            </a:endParaRPr>
          </a:p>
          <a:p>
            <a:pPr algn="l"/>
            <a:r>
              <a:rPr lang="en-US" altLang="en-US" sz="1000" b="1">
                <a:solidFill>
                  <a:srgbClr val="0D2B55"/>
                </a:solidFill>
              </a:rPr>
              <a:t>(</a:t>
            </a:r>
            <a:r>
              <a:rPr lang="en-US" altLang="en-US" sz="1000">
                <a:solidFill>
                  <a:srgbClr val="0D2B55"/>
                </a:solidFill>
              </a:rPr>
              <a:t>1) Debt Restructuring History</a:t>
            </a:r>
            <a:endParaRPr lang="en-US" altLang="en-US" sz="1000">
              <a:solidFill>
                <a:srgbClr val="0D2B55"/>
              </a:solidFill>
            </a:endParaRPr>
          </a:p>
          <a:p>
            <a:pPr algn="l"/>
            <a:r>
              <a:rPr lang="en-US" altLang="en-US" sz="1000">
                <a:solidFill>
                  <a:srgbClr val="0D2B55"/>
                </a:solidFill>
              </a:rPr>
              <a:t>(2) Net Profit Margin</a:t>
            </a:r>
            <a:endParaRPr lang="en-US" altLang="en-US" sz="1000">
              <a:solidFill>
                <a:srgbClr val="0D2B55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85545" y="1718945"/>
            <a:ext cx="5029200" cy="27063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68425" y="1828673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1000" b="1">
                <a:solidFill>
                  <a:srgbClr val="0D2B55"/>
                </a:solidFill>
              </a:rPr>
              <a:t>LR Coefficients &amp; Normalised Importance</a:t>
            </a:r>
            <a:endParaRPr sz="1000" b="1">
              <a:solidFill>
                <a:srgbClr val="0D2B55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31265" y="2148713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50" b="1">
                <a:solidFill>
                  <a:srgbClr val="0D2B55"/>
                </a:solidFill>
              </a:rPr>
              <a:t>Feature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68625" y="2148713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50" b="1">
                <a:solidFill>
                  <a:srgbClr val="0D2B55"/>
                </a:solidFill>
              </a:rPr>
              <a:t>Coef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20185" y="2148713"/>
            <a:ext cx="868680" cy="246888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50" b="1">
                <a:solidFill>
                  <a:srgbClr val="0D2B55"/>
                </a:solidFill>
              </a:rPr>
              <a:t>LR Wt%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934585" y="2148713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50" b="1">
                <a:solidFill>
                  <a:srgbClr val="0D2B55"/>
                </a:solidFill>
              </a:rPr>
              <a:t>Expert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203833" y="2450465"/>
            <a:ext cx="4974336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1265" y="2468753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C3 Worst CB Delinquency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968625" y="246875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0.897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20185" y="246875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26.60%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934585" y="2468753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25%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203833" y="2733929"/>
            <a:ext cx="4974336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1265" y="275221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F4 Debt-to-Equity Ratio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968625" y="275221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0.745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020185" y="2752217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22.17%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934585" y="275221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203833" y="3017393"/>
            <a:ext cx="4974336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31265" y="303568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F5 DSCR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968625" y="3035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0.545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20185" y="303568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16.22%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934585" y="3035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203833" y="3300856"/>
            <a:ext cx="4974336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31265" y="331914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C2 Debt Rescheduling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8" name="TextBox 55"/>
          <p:cNvSpPr txBox="1"/>
          <p:nvPr/>
        </p:nvSpPr>
        <p:spPr>
          <a:xfrm>
            <a:off x="2968625" y="33191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0.469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9" name="TextBox 56"/>
          <p:cNvSpPr txBox="1"/>
          <p:nvPr/>
        </p:nvSpPr>
        <p:spPr>
          <a:xfrm>
            <a:off x="4020185" y="331914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13.96%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0" name="TextBox 57"/>
          <p:cNvSpPr txBox="1"/>
          <p:nvPr/>
        </p:nvSpPr>
        <p:spPr>
          <a:xfrm>
            <a:off x="4934585" y="33191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12.5%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1" name="Rectangle 58"/>
          <p:cNvSpPr/>
          <p:nvPr/>
        </p:nvSpPr>
        <p:spPr>
          <a:xfrm>
            <a:off x="1203833" y="3584320"/>
            <a:ext cx="4974336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31265" y="360260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F1 Net Fixed Asset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968625" y="36026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0.282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020185" y="360260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 8.43%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2" name="TextBox 62"/>
          <p:cNvSpPr txBox="1"/>
          <p:nvPr/>
        </p:nvSpPr>
        <p:spPr>
          <a:xfrm>
            <a:off x="4934585" y="360260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203833" y="3867784"/>
            <a:ext cx="4974336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1265" y="388607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C1 Debt Restructuring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968625" y="38860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0.238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020185" y="388607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C0392B"/>
                </a:solidFill>
              </a:rPr>
              <a:t> 7.09%</a:t>
            </a:r>
            <a:endParaRPr sz="800" b="0">
              <a:solidFill>
                <a:srgbClr val="C0392B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934585" y="38860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12.5%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203833" y="4151248"/>
            <a:ext cx="4974336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31265" y="416953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F2 Net Profit Margin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968625" y="41695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0.182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020185" y="416953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 5.52%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34585" y="416953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10%</a:t>
            </a:r>
            <a:endParaRPr sz="800" b="0">
              <a:solidFill>
                <a:srgbClr val="0D2B5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√</a:t>
            </a:r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>
                <a:solidFill>
                  <a:schemeClr val="accent6"/>
                </a:solidFill>
              </a:rPr>
              <a:t>Approach : </a:t>
            </a:r>
            <a:r>
              <a:rPr sz="1100">
                <a:solidFill>
                  <a:schemeClr val="accent6"/>
                </a:solidFill>
                <a:sym typeface="+mn-ea"/>
              </a:rPr>
              <a:t>Validate monotonicity</a:t>
            </a:r>
            <a:r>
              <a:rPr lang="en-US" sz="1100">
                <a:solidFill>
                  <a:schemeClr val="accent6"/>
                </a:solidFill>
                <a:sym typeface="+mn-ea"/>
              </a:rPr>
              <a:t> - default rate</a:t>
            </a:r>
            <a:r>
              <a:rPr sz="1100">
                <a:solidFill>
                  <a:schemeClr val="accent6"/>
                </a:solidFill>
                <a:sym typeface="+mn-ea"/>
              </a:rPr>
              <a:t> must strictly increase band-by-band</a:t>
            </a:r>
            <a:r>
              <a:rPr lang="en-US" sz="1100" b="0">
                <a:solidFill>
                  <a:schemeClr val="accent6"/>
                </a:solidFill>
              </a:rPr>
              <a:t> </a:t>
            </a:r>
            <a:endParaRPr lang="en-US" sz="1100" b="0">
              <a:solidFill>
                <a:schemeClr val="accent6"/>
              </a:solidFill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Q2: Scorecard Enhancement Suggestions</a:t>
            </a:r>
            <a:endParaRPr sz="2200" b="1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96670"/>
            <a:ext cx="8754110" cy="2208530"/>
          </a:xfrm>
          <a:prstGeom prst="rect">
            <a:avLst/>
          </a:prstGeom>
        </p:spPr>
      </p:pic>
      <p:sp>
        <p:nvSpPr>
          <p:cNvPr id="13" name="Rectangle 55"/>
          <p:cNvSpPr/>
          <p:nvPr/>
        </p:nvSpPr>
        <p:spPr>
          <a:xfrm>
            <a:off x="311150" y="3796030"/>
            <a:ext cx="8809355" cy="16554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4" name="TextBox 56"/>
          <p:cNvSpPr txBox="1"/>
          <p:nvPr/>
        </p:nvSpPr>
        <p:spPr>
          <a:xfrm>
            <a:off x="480695" y="4047490"/>
            <a:ext cx="6943725" cy="2603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1100" b="1">
                <a:solidFill>
                  <a:srgbClr val="0D2B55"/>
                </a:solidFill>
              </a:rPr>
              <a:t>Recommendation: </a:t>
            </a:r>
            <a:r>
              <a:rPr lang="en-US" altLang="en-US" sz="1100" b="1">
                <a:solidFill>
                  <a:srgbClr val="0D2B55"/>
                </a:solidFill>
              </a:rPr>
              <a:t>F3 Sale Growths - cap binning the score </a:t>
            </a:r>
            <a:endParaRPr lang="en-US" altLang="en-US" sz="1100" b="1">
              <a:solidFill>
                <a:srgbClr val="0D2B55"/>
              </a:solidFill>
            </a:endParaRPr>
          </a:p>
        </p:txBody>
      </p:sp>
      <p:sp>
        <p:nvSpPr>
          <p:cNvPr id="15" name="TextBox 57"/>
          <p:cNvSpPr txBox="1"/>
          <p:nvPr/>
        </p:nvSpPr>
        <p:spPr>
          <a:xfrm>
            <a:off x="474980" y="4349115"/>
            <a:ext cx="6949440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lang="en-US" altLang="en-US" sz="1000" b="1">
                <a:solidFill>
                  <a:srgbClr val="0D2B55"/>
                </a:solidFill>
              </a:rPr>
              <a:t>Current scorecard score contradict default rate trend</a:t>
            </a:r>
            <a:endParaRPr lang="en-US" altLang="en-US" sz="1000" b="1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Higher sales growth is associated with greater default risk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&gt; Suggesting that aggressive growth may signal financial distress rather than stability.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endParaRPr lang="en-US" altLang="en-US" sz="1000">
              <a:solidFill>
                <a:srgbClr val="0D2B5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Q3: EDA Methodology for Credit Risk Datasets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Structured five-step framework for borrower, financial and macroeconomic data</a:t>
            </a:r>
            <a:endParaRPr sz="1100" b="0">
              <a:solidFill>
                <a:srgbClr val="E8A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21284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2212848" cy="640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1
Data Quality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488" y="1874519"/>
            <a:ext cx="201168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Missing value audit &amp; sentinel detection 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488" y="2377439"/>
            <a:ext cx="201168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Skewness check</a:t>
            </a:r>
            <a:r>
              <a:rPr lang="en-US" sz="850" b="0">
                <a:solidFill>
                  <a:srgbClr val="0D2B55"/>
                </a:solidFill>
              </a:rPr>
              <a:t>, </a:t>
            </a:r>
            <a:r>
              <a:rPr sz="850" b="0">
                <a:solidFill>
                  <a:srgbClr val="0D2B55"/>
                </a:solidFill>
              </a:rPr>
              <a:t>IQR-based outlier treatment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5488" y="288035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Duplicate and data type validation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78608" y="2240280"/>
            <a:ext cx="137160" cy="2286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15768" y="1143000"/>
            <a:ext cx="221284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15768" y="1143000"/>
            <a:ext cx="2212848" cy="6400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1188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2
Univariate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25496" y="1874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Categorical: frequency, default rate per bin, concentration check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25496" y="23774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Numerical: histogram, boxplot, describe()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25496" y="288035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Flag features with &gt;50% single-bin concentration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928616" y="2240280"/>
            <a:ext cx="137160" cy="2286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65775" y="1143000"/>
            <a:ext cx="221284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5775" y="1143000"/>
            <a:ext cx="2212848" cy="6400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5" y="1188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3
Bivariate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75503" y="1874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Numerical vs Target: KS test, Pearson correlation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75503" y="23774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Categorical vs Target: Chi-square, Cramér's V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278623" y="2240280"/>
            <a:ext cx="137160" cy="2286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15783" y="1143000"/>
            <a:ext cx="221284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15783" y="1143000"/>
            <a:ext cx="2212848" cy="6400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7223" y="1188720"/>
            <a:ext cx="20116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4
</a:t>
            </a:r>
            <a:r>
              <a:rPr lang="en-US" sz="1000" b="1">
                <a:solidFill>
                  <a:srgbClr val="FFFFFF"/>
                </a:solidFill>
              </a:rPr>
              <a:t>IV/WoE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25511" y="1874519"/>
            <a:ext cx="201168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</a:t>
            </a:r>
            <a:r>
              <a:rPr lang="en-US" sz="850" b="0">
                <a:solidFill>
                  <a:srgbClr val="0D2B55"/>
                </a:solidFill>
              </a:rPr>
              <a:t>Q</a:t>
            </a:r>
            <a:r>
              <a:rPr sz="850">
                <a:solidFill>
                  <a:srgbClr val="0D2B55"/>
                </a:solidFill>
                <a:sym typeface="+mn-ea"/>
              </a:rPr>
              <a:t>uantify predictive power per bin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628632" y="2240280"/>
            <a:ext cx="137160" cy="2286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65792" y="1143000"/>
            <a:ext cx="221284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65792" y="1143000"/>
            <a:ext cx="2212848" cy="6400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57232" y="1188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5
Macroeconomic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875519" y="1874519"/>
            <a:ext cx="201168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</a:t>
            </a:r>
            <a:r>
              <a:rPr lang="en-US" sz="850" b="0">
                <a:solidFill>
                  <a:srgbClr val="0D2B55"/>
                </a:solidFill>
              </a:rPr>
              <a:t>Usually affect the whole portforlio or segment</a:t>
            </a:r>
            <a:endParaRPr lang="en-US" sz="850" b="0">
              <a:solidFill>
                <a:srgbClr val="0D2B55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875519" y="2377439"/>
            <a:ext cx="201168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</a:t>
            </a:r>
            <a:r>
              <a:rPr lang="en-US" sz="850" b="0">
                <a:solidFill>
                  <a:srgbClr val="0D2B55"/>
                </a:solidFill>
              </a:rPr>
              <a:t>Shoud be consider as a adverse or favorable variable</a:t>
            </a:r>
            <a:endParaRPr lang="en-US" sz="850" b="0">
              <a:solidFill>
                <a:srgbClr val="0D2B55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875519" y="2880359"/>
            <a:ext cx="201168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</a:t>
            </a:r>
            <a:r>
              <a:rPr lang="en-US" sz="850" b="0">
                <a:solidFill>
                  <a:srgbClr val="0D2B55"/>
                </a:solidFill>
              </a:rPr>
              <a:t>Should be monitor in at least 1 business cycle</a:t>
            </a:r>
            <a:endParaRPr lang="en-US" sz="850" b="0">
              <a:solidFill>
                <a:srgbClr val="0D2B55"/>
              </a:solidFill>
            </a:endParaRPr>
          </a:p>
        </p:txBody>
      </p:sp>
      <p:sp>
        <p:nvSpPr>
          <p:cNvPr id="41" name="TextBox 35"/>
          <p:cNvSpPr txBox="1"/>
          <p:nvPr/>
        </p:nvSpPr>
        <p:spPr>
          <a:xfrm>
            <a:off x="9857105" y="3413760"/>
            <a:ext cx="1943100" cy="35242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50" b="0">
                <a:solidFill>
                  <a:srgbClr val="0D2B55"/>
                </a:solidFill>
              </a:rPr>
              <a:t>• Two-stage model: micro scorecard + macro adjustment</a:t>
            </a:r>
            <a:endParaRPr sz="850" b="0">
              <a:solidFill>
                <a:srgbClr val="0D2B5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Q4: PD Model Development — Logistic Regression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Theory, assumptions and implementation steps</a:t>
            </a:r>
            <a:endParaRPr sz="1100" b="0">
              <a:solidFill>
                <a:srgbClr val="E8A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669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Model Theory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609344"/>
            <a:ext cx="11457432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3035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sz="900" b="1">
                <a:solidFill>
                  <a:srgbClr val="007A8A"/>
                </a:solidFill>
              </a:rPr>
              <a:t>General</a:t>
            </a:r>
            <a:r>
              <a:rPr sz="900" b="1">
                <a:solidFill>
                  <a:srgbClr val="007A8A"/>
                </a:solidFill>
              </a:rPr>
              <a:t> formulation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1956815"/>
            <a:ext cx="53035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WoE encoding linearises the log-odds relationship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450591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▸ MLE estimation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670048"/>
            <a:ext cx="530352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Parameters estimated by </a:t>
            </a:r>
            <a:r>
              <a:rPr lang="en-US" sz="850" b="0">
                <a:solidFill>
                  <a:srgbClr val="0D2B55"/>
                </a:solidFill>
              </a:rPr>
              <a:t>minimizing negative </a:t>
            </a:r>
            <a:r>
              <a:rPr sz="850" b="0">
                <a:solidFill>
                  <a:srgbClr val="0D2B55"/>
                </a:solidFill>
              </a:rPr>
              <a:t>log-likelihood</a:t>
            </a:r>
            <a:r>
              <a:rPr lang="en-US" sz="850" b="0">
                <a:solidFill>
                  <a:srgbClr val="0D2B55"/>
                </a:solidFill>
              </a:rPr>
              <a:t> function</a:t>
            </a:r>
            <a:r>
              <a:rPr sz="850" b="0">
                <a:solidFill>
                  <a:srgbClr val="0D2B55"/>
                </a:solidFill>
              </a:rPr>
              <a:t>
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17920" y="1400810"/>
            <a:ext cx="5623560" cy="50457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261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Implementation Steps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1609344"/>
            <a:ext cx="11457432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09928"/>
            <a:ext cx="320040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7282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56832" y="173736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1. Data Preparation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63640" y="2423160"/>
            <a:ext cx="32004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56832" y="2450591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2. WoE Encoding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56832" y="2670048"/>
            <a:ext cx="502920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Compute WoE per bin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263640" y="3136392"/>
            <a:ext cx="320040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2055" y="3154680"/>
            <a:ext cx="27432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56832" y="316382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3. Train/Test Split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56832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80/20 stratified split; EPV check (need ≥10 defaults per feature)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63640" y="3849624"/>
            <a:ext cx="32004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3867912"/>
            <a:ext cx="27432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56705" y="3877310"/>
            <a:ext cx="5029200" cy="2197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4. Model Training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63640" y="4918456"/>
            <a:ext cx="320040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2055" y="4927600"/>
            <a:ext cx="27432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6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56705" y="4937125"/>
            <a:ext cx="50292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5. </a:t>
            </a:r>
            <a:r>
              <a:rPr sz="900" b="1">
                <a:solidFill>
                  <a:srgbClr val="007A8A"/>
                </a:solidFill>
                <a:sym typeface="+mn-ea"/>
              </a:rPr>
              <a:t>Score Mapping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63640" y="5542788"/>
            <a:ext cx="32004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2055" y="5552440"/>
            <a:ext cx="27432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7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56705" y="5561330"/>
            <a:ext cx="50292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6. </a:t>
            </a:r>
            <a:r>
              <a:rPr sz="900" b="1">
                <a:solidFill>
                  <a:srgbClr val="007A8A"/>
                </a:solidFill>
                <a:sym typeface="+mn-ea"/>
              </a:rPr>
              <a:t>PDO Calibration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39255" y="5220970"/>
            <a:ext cx="502920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Score_i = Offset + Factor×β₀ + Σ[−Factor×βᵢ×WoEᵢ]</a:t>
            </a:r>
            <a:endParaRPr sz="850" b="0">
              <a:solidFill>
                <a:srgbClr val="0D2B5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 Box 47"/>
              <p:cNvSpPr txBox="1"/>
              <p:nvPr/>
            </p:nvSpPr>
            <p:spPr>
              <a:xfrm>
                <a:off x="695960" y="2892425"/>
                <a:ext cx="3143250" cy="36576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vertOverflow="clip" horzOverflow="clip" wrap="none" rtlCol="0" anchor="t">
                <a:noAutofit/>
              </a:bodyPr>
              <a:lstStyle>
                <a:defPPr>
                  <a:defRPr lang="en-US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𝑤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 = 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𝑖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=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𝑁</m:t>
                          </m:r>
                        </m:sup>
                        <m:e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(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𝑦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ᵢ 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𝑙𝑜𝑔</m:t>
                          </m:r>
                          <m:r>
                            <m:rPr>
                              <m:sty m:val="p"/>
                            </m:rP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z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ᵢ +(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y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ᵢ )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𝑙𝑜𝑔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(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z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ᵢ)</m:t>
                          </m:r>
                        </m:e>
                      </m:nary>
                    </m:oMath>
                  </m:oMathPara>
                </a14:m>
                <a:endParaRPr lang="en-US" sz="900"/>
              </a:p>
            </p:txBody>
          </p:sp>
        </mc:Choice>
        <mc:Fallback>
          <p:sp>
            <p:nvSpPr>
              <p:cNvPr id="48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60" y="2892425"/>
                <a:ext cx="3143250" cy="3657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 Box 48"/>
              <p:cNvSpPr txBox="1"/>
              <p:nvPr/>
            </p:nvSpPr>
            <p:spPr>
              <a:xfrm>
                <a:off x="696277" y="2178685"/>
                <a:ext cx="1157605" cy="23177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vertOverflow="clip" horzOverflow="clip" wrap="none" rtlCol="0" anchor="t">
                <a:spAutoFit/>
              </a:bodyPr>
              <a:lstStyle>
                <a:defPPr>
                  <a:defRPr lang="en-US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𝑓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𝑥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 =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𝜃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sSup>
                        <m:sSupPr>
                          <m:ctrlP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𝑤</m:t>
                          </m:r>
                        </m:e>
                        <m:sup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sup>
                      </m:sSup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𝑥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 </m:t>
                      </m:r>
                    </m:oMath>
                  </m:oMathPara>
                </a14:m>
                <a:endParaRPr lang="en-US" sz="900"/>
              </a:p>
            </p:txBody>
          </p:sp>
        </mc:Choice>
        <mc:Fallback>
          <p:sp>
            <p:nvSpPr>
              <p:cNvPr id="49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77" y="2178685"/>
                <a:ext cx="1157605" cy="231775"/>
              </a:xfrm>
              <a:prstGeom prst="rect">
                <a:avLst/>
              </a:prstGeom>
              <a:blipFill rotWithShape="1">
                <a:blip r:embed="rId2"/>
                <a:stretch>
                  <a:fillRect l="-27" r="27"/>
                </a:stretch>
              </a:blip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11"/>
          <p:cNvSpPr txBox="1"/>
          <p:nvPr/>
        </p:nvSpPr>
        <p:spPr>
          <a:xfrm>
            <a:off x="548640" y="3380866"/>
            <a:ext cx="530352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sz="900" b="1">
                <a:solidFill>
                  <a:srgbClr val="007A8A"/>
                </a:solidFill>
              </a:rPr>
              <a:t>Have no close form soluion</a:t>
            </a:r>
            <a:endParaRPr lang="en-US" sz="900" b="1">
              <a:solidFill>
                <a:srgbClr val="007A8A"/>
              </a:solidFill>
            </a:endParaRPr>
          </a:p>
          <a:p>
            <a:pPr algn="l"/>
            <a:r>
              <a:rPr lang="en-US" sz="900">
                <a:solidFill>
                  <a:srgbClr val="0D2B55"/>
                </a:solidFill>
                <a:sym typeface="+mn-ea"/>
              </a:rPr>
              <a:t>Approximate close solution by iterating</a:t>
            </a:r>
            <a:endParaRPr lang="en-US" sz="900" b="1">
              <a:solidFill>
                <a:srgbClr val="007A8A"/>
              </a:solidFill>
            </a:endParaRPr>
          </a:p>
        </p:txBody>
      </p:sp>
      <p:graphicFrame>
        <p:nvGraphicFramePr>
          <p:cNvPr id="51" name="Table 50"/>
          <p:cNvGraphicFramePr/>
          <p:nvPr/>
        </p:nvGraphicFramePr>
        <p:xfrm>
          <a:off x="2687955" y="3553460"/>
          <a:ext cx="1541145" cy="180340"/>
        </p:xfrm>
        <a:graphic>
          <a:graphicData uri="http://schemas.openxmlformats.org/drawingml/2006/table">
            <a:tbl>
              <a:tblPr/>
              <a:tblGrid>
                <a:gridCol w="1541145"/>
              </a:tblGrid>
              <a:tr h="0">
                <a:tc>
                  <a:txBody>
                    <a:bodyPr/>
                    <a:p>
                      <a:pPr algn="l" fontAlgn="b"/>
                      <a:r>
                        <a:rPr sz="900" b="0" i="0">
                          <a:solidFill>
                            <a:srgbClr val="000000"/>
                          </a:solidFill>
                          <a:latin typeface="DejaVu Math TeX Gyre" panose="02000503000000000000" charset="0"/>
                          <a:ea typeface="Calibri"/>
                          <a:cs typeface="DejaVu Math TeX Gyre" panose="02000503000000000000" charset="0"/>
                        </a:rPr>
                        <a:t>w=w+η(yi​−zi​)xi​</a:t>
                      </a:r>
                      <a:endParaRPr sz="900" b="0" i="0">
                        <a:solidFill>
                          <a:srgbClr val="000000"/>
                        </a:solidFill>
                        <a:latin typeface="DejaVu Math TeX Gyre" panose="02000503000000000000" charset="0"/>
                        <a:ea typeface="Calibri"/>
                        <a:cs typeface="DejaVu Math TeX Gyre" panose="02000503000000000000" charset="0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Box 7"/>
          <p:cNvSpPr txBox="1"/>
          <p:nvPr/>
        </p:nvSpPr>
        <p:spPr>
          <a:xfrm>
            <a:off x="427990" y="4096512"/>
            <a:ext cx="5303520" cy="2603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lang="en-US" sz="1100" b="1">
                <a:solidFill>
                  <a:srgbClr val="0D2B55"/>
                </a:solidFill>
              </a:rPr>
              <a:t>Assumption</a:t>
            </a:r>
            <a:endParaRPr lang="en-US" sz="1100" b="1">
              <a:solidFill>
                <a:srgbClr val="0D2B55"/>
              </a:solidFill>
            </a:endParaRPr>
          </a:p>
        </p:txBody>
      </p:sp>
      <p:sp>
        <p:nvSpPr>
          <p:cNvPr id="55" name="Rectangle 7"/>
          <p:cNvSpPr/>
          <p:nvPr/>
        </p:nvSpPr>
        <p:spPr>
          <a:xfrm flipV="1">
            <a:off x="365760" y="4319905"/>
            <a:ext cx="5669280" cy="36576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6" name="TextBox 9"/>
          <p:cNvSpPr txBox="1"/>
          <p:nvPr/>
        </p:nvSpPr>
        <p:spPr>
          <a:xfrm>
            <a:off x="427990" y="4580890"/>
            <a:ext cx="530352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altLang="en-US" sz="900" b="1">
                <a:solidFill>
                  <a:srgbClr val="007A8A"/>
                </a:solidFill>
              </a:rPr>
              <a:t>Binary or Ordinal Dependent Variable</a:t>
            </a:r>
            <a:endParaRPr lang="en-US" altLang="en-US" sz="900" b="1">
              <a:solidFill>
                <a:srgbClr val="007A8A"/>
              </a:solidFill>
            </a:endParaRPr>
          </a:p>
        </p:txBody>
      </p:sp>
      <p:sp>
        <p:nvSpPr>
          <p:cNvPr id="58" name="TextBox 9"/>
          <p:cNvSpPr txBox="1"/>
          <p:nvPr/>
        </p:nvSpPr>
        <p:spPr>
          <a:xfrm>
            <a:off x="427990" y="4883150"/>
            <a:ext cx="530352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altLang="en-US" sz="900" b="1">
                <a:solidFill>
                  <a:srgbClr val="007A8A"/>
                </a:solidFill>
              </a:rPr>
              <a:t>Independence of Observations</a:t>
            </a:r>
            <a:endParaRPr lang="en-US" altLang="en-US" sz="900" b="1">
              <a:solidFill>
                <a:srgbClr val="007A8A"/>
              </a:solidFill>
            </a:endParaRPr>
          </a:p>
        </p:txBody>
      </p:sp>
      <p:sp>
        <p:nvSpPr>
          <p:cNvPr id="59" name="TextBox 9"/>
          <p:cNvSpPr txBox="1"/>
          <p:nvPr/>
        </p:nvSpPr>
        <p:spPr>
          <a:xfrm>
            <a:off x="427990" y="5212715"/>
            <a:ext cx="530352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altLang="en-US" sz="900" b="1">
                <a:solidFill>
                  <a:srgbClr val="007A8A"/>
                </a:solidFill>
              </a:rPr>
              <a:t>Absence of Multicollinearity</a:t>
            </a:r>
            <a:endParaRPr lang="en-US" altLang="en-US" sz="900" b="1">
              <a:solidFill>
                <a:srgbClr val="007A8A"/>
              </a:solidFill>
            </a:endParaRPr>
          </a:p>
        </p:txBody>
      </p:sp>
      <p:sp>
        <p:nvSpPr>
          <p:cNvPr id="60" name="TextBox 9"/>
          <p:cNvSpPr txBox="1"/>
          <p:nvPr/>
        </p:nvSpPr>
        <p:spPr>
          <a:xfrm>
            <a:off x="427990" y="5466080"/>
            <a:ext cx="530352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altLang="en-US" sz="900" b="1">
                <a:solidFill>
                  <a:srgbClr val="007A8A"/>
                </a:solidFill>
              </a:rPr>
              <a:t>Linearity of Independent Variables with the Log-Odds</a:t>
            </a:r>
            <a:endParaRPr lang="en-US" altLang="en-US" sz="900" b="1">
              <a:solidFill>
                <a:srgbClr val="007A8A"/>
              </a:solidFill>
            </a:endParaRPr>
          </a:p>
        </p:txBody>
      </p:sp>
      <p:sp>
        <p:nvSpPr>
          <p:cNvPr id="61" name="TextBox 9"/>
          <p:cNvSpPr txBox="1"/>
          <p:nvPr/>
        </p:nvSpPr>
        <p:spPr>
          <a:xfrm>
            <a:off x="427990" y="5797550"/>
            <a:ext cx="530352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sz="900" b="1">
                <a:solidFill>
                  <a:srgbClr val="007A8A"/>
                </a:solidFill>
              </a:rPr>
              <a:t>No extreme outliers</a:t>
            </a:r>
            <a:endParaRPr lang="en-US" sz="900" b="1">
              <a:solidFill>
                <a:srgbClr val="007A8A"/>
              </a:solidFill>
            </a:endParaRPr>
          </a:p>
        </p:txBody>
      </p:sp>
      <p:sp>
        <p:nvSpPr>
          <p:cNvPr id="62" name="TextBox 45"/>
          <p:cNvSpPr txBox="1"/>
          <p:nvPr/>
        </p:nvSpPr>
        <p:spPr>
          <a:xfrm>
            <a:off x="6812280" y="5817870"/>
            <a:ext cx="5029200" cy="35242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lang="en-US" altLang="en-US" sz="850" b="0">
                <a:solidFill>
                  <a:srgbClr val="0D2B55"/>
                </a:solidFill>
              </a:rPr>
              <a:t>Allocating rating classes to entities to ensure the calibration power of the division created is as high as possible</a:t>
            </a:r>
            <a:endParaRPr lang="en-US" altLang="en-US" sz="850" b="0">
              <a:solidFill>
                <a:srgbClr val="0D2B55"/>
              </a:solidFill>
            </a:endParaRPr>
          </a:p>
        </p:txBody>
      </p:sp>
      <p:sp>
        <p:nvSpPr>
          <p:cNvPr id="63" name="TextBox 45"/>
          <p:cNvSpPr txBox="1"/>
          <p:nvPr/>
        </p:nvSpPr>
        <p:spPr>
          <a:xfrm>
            <a:off x="6812407" y="4141851"/>
            <a:ext cx="5029200" cy="22161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lang="en-US" altLang="en-US" sz="850" b="0">
                <a:solidFill>
                  <a:srgbClr val="0D2B55"/>
                </a:solidFill>
              </a:rPr>
              <a:t>Set stopping condition when loss funcion small enough or by iteration </a:t>
            </a:r>
            <a:endParaRPr lang="en-US" altLang="en-US" sz="850" b="0">
              <a:solidFill>
                <a:srgbClr val="0D2B55"/>
              </a:solidFill>
            </a:endParaRPr>
          </a:p>
        </p:txBody>
      </p:sp>
      <p:sp>
        <p:nvSpPr>
          <p:cNvPr id="64" name="Rectangle 34"/>
          <p:cNvSpPr/>
          <p:nvPr/>
        </p:nvSpPr>
        <p:spPr>
          <a:xfrm>
            <a:off x="6263640" y="4460494"/>
            <a:ext cx="32004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5" name="TextBox 35"/>
          <p:cNvSpPr txBox="1"/>
          <p:nvPr/>
        </p:nvSpPr>
        <p:spPr>
          <a:xfrm>
            <a:off x="6282055" y="4485640"/>
            <a:ext cx="274320" cy="2197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/>
            <a:r>
              <a:rPr lang="en-US" sz="1000" b="1">
                <a:solidFill>
                  <a:srgbClr val="FFFFFF"/>
                </a:solidFill>
              </a:rPr>
              <a:t>5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66" name="TextBox 36"/>
          <p:cNvSpPr txBox="1"/>
          <p:nvPr/>
        </p:nvSpPr>
        <p:spPr>
          <a:xfrm>
            <a:off x="6675120" y="4485640"/>
            <a:ext cx="5029200" cy="2197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l"/>
            <a:r>
              <a:rPr lang="en-US" sz="900" b="1">
                <a:solidFill>
                  <a:srgbClr val="007A8A"/>
                </a:solidFill>
              </a:rPr>
              <a:t>5</a:t>
            </a:r>
            <a:r>
              <a:rPr sz="900" b="1">
                <a:solidFill>
                  <a:srgbClr val="007A8A"/>
                </a:solidFill>
              </a:rPr>
              <a:t>. </a:t>
            </a:r>
            <a:r>
              <a:rPr lang="en-US" sz="900" b="1">
                <a:solidFill>
                  <a:srgbClr val="007A8A"/>
                </a:solidFill>
              </a:rPr>
              <a:t>Validation</a:t>
            </a:r>
            <a:endParaRPr lang="en-US" sz="900" b="1">
              <a:solidFill>
                <a:srgbClr val="007A8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Q5: Model Evaluation Framework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Three pillars: goodness-of-fit, discriminatory power, </a:t>
            </a:r>
            <a:r>
              <a:rPr lang="en-US" sz="1100" b="0">
                <a:solidFill>
                  <a:srgbClr val="E8A000"/>
                </a:solidFill>
              </a:rPr>
              <a:t>accuracy</a:t>
            </a:r>
            <a:endParaRPr lang="en-US" sz="1100" b="0">
              <a:solidFill>
                <a:srgbClr val="E8A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49039" cy="640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Pillar 1
Goodness-of-Fit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3474720" cy="25603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1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Hosmer-Lemeshow Test</a:t>
            </a:r>
            <a:endParaRPr sz="900" b="1">
              <a:solidFill>
                <a:srgbClr val="0D2B5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176272"/>
            <a:ext cx="3383280" cy="744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850" b="0">
                <a:solidFill>
                  <a:srgbClr val="0D2B55"/>
                </a:solidFill>
              </a:rPr>
              <a:t>Groups:                    10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Hosmer-Lemeshow Statistic: 4.8454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Degrees of Freedom:        8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P-value:                   0.7740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Good fit — fail to reject H0</a:t>
            </a:r>
            <a:endParaRPr lang="en-US" altLang="en-US" sz="850" b="0">
              <a:solidFill>
                <a:srgbClr val="0D2B55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2971800"/>
            <a:ext cx="3474720" cy="25603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9923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Binomial Test</a:t>
            </a:r>
            <a:endParaRPr sz="900" b="1">
              <a:solidFill>
                <a:srgbClr val="0D2B5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3273552"/>
            <a:ext cx="3383280" cy="100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850" b="0">
                <a:solidFill>
                  <a:srgbClr val="0D2B55"/>
                </a:solidFill>
              </a:rPr>
              <a:t>Observed Defaults:   10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Total Borrowers:     112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Expected PD (avg):   0.116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Expected Defaults:   12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p-value:             0.46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Fail to reject H0 — predicted default rate matches observed</a:t>
            </a:r>
            <a:endParaRPr lang="en-US" altLang="en-US" sz="850" b="0">
              <a:solidFill>
                <a:srgbClr val="0D2B55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97680" y="114300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143000"/>
            <a:ext cx="3749039" cy="6400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188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Pillar 2
Discriminatory Power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434840" y="1874519"/>
            <a:ext cx="3474720" cy="25603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01951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AUC-ROC = 0.90</a:t>
            </a:r>
            <a:endParaRPr sz="900" b="1">
              <a:solidFill>
                <a:srgbClr val="0D2B55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80560" y="2176272"/>
            <a:ext cx="3383280" cy="48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Model ranks 90% of default/non-default pairs correctly
Excellent </a:t>
            </a:r>
            <a:r>
              <a:rPr lang="en-US" sz="850" b="0">
                <a:solidFill>
                  <a:srgbClr val="0D2B55"/>
                </a:solidFill>
              </a:rPr>
              <a:t>-</a:t>
            </a:r>
            <a:r>
              <a:rPr sz="850" b="0">
                <a:solidFill>
                  <a:srgbClr val="0D2B55"/>
                </a:solidFill>
              </a:rPr>
              <a:t> robust even with extreme WoE values
Gini Coefficient = 2×AUC−1 = 0.80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229600" y="114300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143000"/>
            <a:ext cx="3749039" cy="64008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188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Pillar 3
Forecasting Accuracy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366760" y="1874519"/>
            <a:ext cx="3474720" cy="25603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901951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PSI — Population Stability</a:t>
            </a:r>
            <a:endParaRPr sz="900" b="1">
              <a:solidFill>
                <a:srgbClr val="0D2B55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0" y="2176272"/>
            <a:ext cx="3383280" cy="1137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850" b="0">
                <a:solidFill>
                  <a:srgbClr val="0D2B55"/>
                </a:solidFill>
              </a:rPr>
              <a:t>              precision    recall  f1-score   support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           0          0.96      0.99      0.98       102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           1          0.86      0.60      0.71        10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    accuracy                               0.96       112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   macro avg     0.91      0.80     0.84      112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weighted avg   0.95      0.96      0.95      112</a:t>
            </a:r>
            <a:endParaRPr lang="en-US" altLang="en-US" sz="850" b="0">
              <a:solidFill>
                <a:srgbClr val="0D2B55"/>
              </a:solidFill>
            </a:endParaRPr>
          </a:p>
        </p:txBody>
      </p:sp>
      <p:pic>
        <p:nvPicPr>
          <p:cNvPr id="35" name="Picture 34" descr="ro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2861945"/>
            <a:ext cx="3060700" cy="23710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Score Distribution Analysis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PDO-calibrated scores mapped to 300–850 range with band-level default rates</a:t>
            </a:r>
            <a:endParaRPr sz="1100" b="0">
              <a:solidFill>
                <a:srgbClr val="E8A000"/>
              </a:solidFill>
            </a:endParaRPr>
          </a:p>
        </p:txBody>
      </p:sp>
      <p:pic>
        <p:nvPicPr>
          <p:cNvPr id="7" name="Picture 6" descr="score_band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77724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143000"/>
            <a:ext cx="35204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2618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PDO Calibration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0" y="1691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PDO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29800" y="1691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20 (score doubles odds per 20 pts)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03920" y="20391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Base Score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29800" y="20391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600 at odds 50:1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03920" y="23865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Factor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29800" y="23865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PDO/ln(2) = 28.85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03920" y="27340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Offset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29800" y="27340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Base − Factor×ln(Base_Odds) = 487.1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03920" y="3081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Intercept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829800" y="308152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Factor × β₀ = 10.55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20" y="342899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Score Range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29800" y="342899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300–850 (min-max scaled)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03920" y="3950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Score Band Findings</a:t>
            </a:r>
            <a:endParaRPr sz="1000" b="1">
              <a:solidFill>
                <a:srgbClr val="0D2B55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03920" y="425196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300–498: 44.8% default rate → High Risk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03920" y="459943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498–513: 5–13% default rate → Medium Risk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03920" y="494690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513+: 0–3.5% default rate → Low Risk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03920" y="52943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Clear separation validates model discrimination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03920" y="56418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Bands 513–850: 0 defaults in top 5 bands</a:t>
            </a:r>
            <a:endParaRPr sz="850" b="0">
              <a:solidFill>
                <a:srgbClr val="0D2B5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11804904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803136"/>
            <a:ext cx="11804904" cy="5486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749808"/>
            <a:ext cx="10360152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9AA"/>
                </a:solidFill>
              </a:rPr>
              <a:t>Based on quantitative analysis, three actions are recommended to strengthen the scorecard:</a:t>
            </a:r>
            <a:endParaRPr sz="1050" b="0" i="1">
              <a:solidFill>
                <a:srgbClr val="8899A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611880" cy="5074920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11880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64008" cy="50749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36192"/>
            <a:ext cx="566928" cy="56692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01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07592" y="1554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Reassess the Weights of Risk Components</a:t>
            </a:r>
            <a:endParaRPr sz="105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7512" y="2176272"/>
            <a:ext cx="3291840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286000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C3 (Worst CB Delinquency) is the strongest predictor with IV = 5.43 — its 25% weight is justified and may warrant an increase to 30%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512" y="2953512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F3 Sale Growth has IV = 0.04, below the acceptable threshold — it should be removed or replaced with a more predictive variable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7512" y="3621024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D/E Ratio and DSCR are underweighted relative to their data-implied importance — consider increasing both to 15%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512" y="4288536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Use IV as the primary basis for weight assignment rather than expert judgement alone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61688" y="1417320"/>
            <a:ext cx="3611880" cy="5074920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1688" y="1417320"/>
            <a:ext cx="3611880" cy="6400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1688" y="1417320"/>
            <a:ext cx="64008" cy="50749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1536192"/>
            <a:ext cx="566928" cy="56692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155448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02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66359" y="1554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Adjust Bins and the Formulated Scorecard</a:t>
            </a:r>
            <a:endParaRPr sz="1050" b="1" i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26279" y="2176272"/>
            <a:ext cx="329184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974" y="2313432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Merge non-monotone bins where WoE direction breaks the expected risk ordering (e.g. C1 Restructuring)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53584" y="3620516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Validate monotonicity after each bin adjustment — default rate must strictly increase from best to worst bin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220455" y="1417320"/>
            <a:ext cx="3611880" cy="5074920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0455" y="1417320"/>
            <a:ext cx="3611880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0455" y="1417320"/>
            <a:ext cx="64008" cy="50749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57615" y="1536192"/>
            <a:ext cx="566928" cy="56692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5" y="155448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03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25128" y="1554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Combine Quantitative Model with Expert Model</a:t>
            </a:r>
            <a:endParaRPr sz="1050" b="1" i="0">
              <a:solidFill>
                <a:srgbClr val="FFFFFF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385047" y="2176272"/>
            <a:ext cx="3291840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5047" y="2286000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Use LR-implied coefficients to cross-validate expert weights — flag features where the gap exceeds 5 percentage points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85047" y="2953512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Adopt a hybrid approach: data-driven weights as the baseline, with expert overlay for features with limited historical data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85047" y="3621024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Incorporate macroeconomic variables (GDP growth, interest rates) in a two-stage model: micro scorecard × macro scalar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02920" y="6492240"/>
            <a:ext cx="11183112" cy="182880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28"/>
          <p:cNvSpPr txBox="1"/>
          <p:nvPr/>
        </p:nvSpPr>
        <p:spPr>
          <a:xfrm>
            <a:off x="4553584" y="2926334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50" b="0" i="0">
                <a:solidFill>
                  <a:srgbClr val="8899AA"/>
                </a:solidFill>
              </a:rPr>
              <a:t>•  Cap extreme values at 5th–95th percentile before binning to reduce sensitivity to outliers in skewed features</a:t>
            </a:r>
            <a:endParaRPr sz="850" b="0" i="0">
              <a:solidFill>
                <a:srgbClr val="8899A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8551</Words>
  <Application>WPS Spreadsheets</Application>
  <PresentationFormat>On-screen Show (4:3)</PresentationFormat>
  <Paragraphs>531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Arial</vt:lpstr>
      <vt:lpstr>DejaVu Math TeX Gyre</vt:lpstr>
      <vt:lpstr>Calibri</vt:lpstr>
      <vt:lpstr>Helvetica Neue</vt:lpstr>
      <vt:lpstr>Microsoft YaHei</vt:lpstr>
      <vt:lpstr>汉仪旗黑</vt:lpstr>
      <vt:lpstr>Arial Unicode MS</vt:lpstr>
      <vt:lpstr>汉仪书宋二KW</vt:lpstr>
      <vt:lpstr>Apple Color Emoji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leekim</cp:lastModifiedBy>
  <cp:revision>10</cp:revision>
  <dcterms:created xsi:type="dcterms:W3CDTF">2026-03-21T12:51:15Z</dcterms:created>
  <dcterms:modified xsi:type="dcterms:W3CDTF">2026-03-21T12:51:15Z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183889C9EBF341C229CAB96909D0C3FF_42</vt:lpwstr>
  </property>
  <property fmtid="{D5CDD505-2E9C-101B-9397-08002B2CF9AE}" pid="3" name="KSOProductBuildVer">
    <vt:lpwstr>1033-6.11.0.8608</vt:lpwstr>
  </property>
</Properties>
</file>