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Credit Scorecard Development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0B323"/>
                </a:solidFill>
              </a:rPr>
              <a:t>SME Portfolio — Quantitative Analysis &amp; Model Enhancement</a:t>
            </a:r>
            <a:endParaRPr sz="2000" b="0" i="1">
              <a:solidFill>
                <a:srgbClr val="F0B32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Candidate Case Study  |  Deloitte</a:t>
            </a:r>
            <a:endParaRPr sz="1600" b="0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B323"/>
                </a:solidFill>
              </a:rPr>
              <a:t>March 2026</a:t>
            </a:r>
            <a:endParaRPr sz="1300" b="0" i="0">
              <a:solidFill>
                <a:srgbClr val="F0B32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01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0120" y="137160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Background &amp; Problem Statement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02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120" y="265176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Current State — Expert Weights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03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60120" y="393192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69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Q1: Weight Assessment — Expert vs Data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5212079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79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04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0120" y="5212079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Q2: Scorecard Enhancement Suggestions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05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903720" y="137160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Q3: EDA Approach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265176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7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06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03720" y="265176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Q4: Logistic Regression for PD Estimation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3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07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03720" y="3931920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069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Q5: Model Performance Evaluation</a:t>
            </a:r>
            <a:endParaRPr sz="1300" b="0" i="0">
              <a:solidFill>
                <a:srgbClr val="1E3A5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00800" y="5212079"/>
            <a:ext cx="5029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5779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3"/>
                </a:solidFill>
              </a:rPr>
              <a:t>08</a:t>
            </a:r>
            <a:endParaRPr sz="2200" b="1" i="0">
              <a:solidFill>
                <a:srgbClr val="F0B323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903720" y="5212079"/>
            <a:ext cx="51206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5349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Conclusion &amp; Recommendations</a:t>
            </a:r>
            <a:endParaRPr sz="1300" b="0" i="0">
              <a:solidFill>
                <a:srgbClr val="1E3A5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 &amp; Problem Statement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SME loan portfolio of a bank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557 borrowers | 50 defaults (9% default rate)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8 features: 3 credit history + 5 financial factors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Hybrid scorecard: expert weights + statistical support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57607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31673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Statement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1664207"/>
            <a:ext cx="54864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Current weights determined purely by expert judgement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Bank wants quantitative analysis to objectively support weights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Low default sample (50) → hybrid approach required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▸  Goal: validate, refine, and enhance the scorecard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Current Expert Weights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111556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C (Credit History) = 50%   →   C1 Debt Restructuring: 25%  |  C2 Debt Rescheduling: 25%  |  C3 Credit Bureau: 50%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F (Financial Factor) = 50%  →   F1 Net Fixed Asset: 20%  |  F2 Net Profit Margin: 20%  |  F3 Sale Growth: 20%  |  F4 D/E Ratio: 20%  |  F5 DSCR: 20%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Note: Weights of C+F = 100%, sub-weights within C and F each sum to 100%</a:t>
            </a:r>
            <a:endParaRPr sz="12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Q1: Weight Assessment — Expert vs Data-Driven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Information Value (IV) used as objective measure of discriminatory power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9418319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3756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Expert Wt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IV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3212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IV-based Wt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516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Gap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Verdict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C1 Debt Restructuring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12.5%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1.17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32120" y="1737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8.3%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60" y="1737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-4.2%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09560" y="1737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Over-weighted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2103120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1214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C2 Debt Rescheduling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37560" y="21214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12.5%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720" y="2121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0.57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32120" y="2121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4.0%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95160" y="2121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-8.5%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09560" y="2121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Over-weighted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" y="2487168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5054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C3 Credit Bureau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37560" y="25054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25.0%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17720" y="25054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5.43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32120" y="25054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38.4%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95160" y="25054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+13.4%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09560" y="25054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✓ Under-weighted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2871215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8895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F1 Net Fixed Asset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37560" y="28895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17720" y="2889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2.60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32120" y="28895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18.4%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95160" y="2889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+8.4%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09560" y="28895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✓ Under-weighted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65760" y="3255263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273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F2 Net Profit Margin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37560" y="3273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17720" y="3273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1.28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32120" y="32735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9.1%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95160" y="3273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-0.9%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09560" y="3273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~ Correct</a:t>
            </a:r>
            <a:endParaRPr sz="1000" b="1" i="0">
              <a:solidFill>
                <a:srgbClr val="2E86C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3639312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6576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F3 Sale Growth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337560" y="3657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1772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0.04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32120" y="3657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0.3%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9516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-9.7%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09560" y="3657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Remove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65760" y="4023360"/>
            <a:ext cx="94183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041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F4 Debt-to-Equity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37560" y="40416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1772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1.45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532120" y="4041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10.4%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9516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+0.4%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09560" y="40416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~ Correct</a:t>
            </a:r>
            <a:endParaRPr sz="1000" b="1" i="0">
              <a:solidFill>
                <a:srgbClr val="2E86C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4407408"/>
            <a:ext cx="9418319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4256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F5 DSCR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37560" y="44256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10.0%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617720" y="4425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1.58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532120" y="44256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11.2%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95160" y="4425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+1.2%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909560" y="44256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~ Correct</a:t>
            </a:r>
            <a:endParaRPr sz="1000" b="1" i="0">
              <a:solidFill>
                <a:srgbClr val="2E86C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* IV &gt; 0.3 = Strong predictor  |  IV &lt; 0.1 = Weak/useless</a:t>
            </a:r>
            <a:endParaRPr sz="900" b="0" i="1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Q1: Key Evidence — Default Rates by Feature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Data confirms C3 dominates; F3 Sale Growth shows near-zero discriminatory power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56032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100%</a:t>
            </a:r>
            <a:endParaRPr sz="3000" b="1" i="0">
              <a:solidFill>
                <a:srgbClr val="C0392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C3: Overdue &gt;90d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371600"/>
            <a:ext cx="256032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62.5%</a:t>
            </a:r>
            <a:endParaRPr sz="3000" b="1" i="0">
              <a:solidFill>
                <a:srgbClr val="C0392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89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C1: Restructured &lt;6m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5216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371600"/>
            <a:ext cx="256032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44444"/>
                </a:solidFill>
              </a:rPr>
              <a:t>11.4%</a:t>
            </a:r>
            <a:endParaRPr sz="3000" b="1" i="0">
              <a:solidFill>
                <a:srgbClr val="4444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21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F3: Sale Growth &gt;30%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95360" y="1371600"/>
            <a:ext cx="2834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371600"/>
            <a:ext cx="2834640" cy="91440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44444"/>
                </a:solidFill>
              </a:rPr>
              <a:t>9.1%</a:t>
            </a:r>
            <a:endParaRPr sz="3000" b="1" i="0">
              <a:solidFill>
                <a:srgbClr val="444444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536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F3: Sale Growth &lt;=0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539496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514600"/>
            <a:ext cx="53949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511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C3 — Severely Under-weighted (IV=5.43)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2898648"/>
            <a:ext cx="51206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"Overdue &gt;90d &gt;1yr" → 100% default rate — 7/7 customers defaulted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"No delinquency" → 5.6% default — clear separation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Chi-square p &lt; 0.001 — strongest statistical association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IV-based weight: 38.4% vs current 25% → gap of +13.4%</a:t>
            </a:r>
            <a:endParaRPr sz="1100">
              <a:solidFill>
                <a:srgbClr val="444444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35040" y="2514600"/>
            <a:ext cx="576072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251460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79" y="255117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F3 Sale Growth — Should be Removed (IV=0.04)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72200" y="2898648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Default rates flat across all bins: 6.8% to 12.5% — no clear pattern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Chi-square p = 0.758 — not statistically significant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Spearman ρ = +0.696 — directionally WRONG (higher growth = more default)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▸  IV = 0.04 → below 0.02 threshold for useful predictors</a:t>
            </a:r>
            <a:endParaRPr sz="1100">
              <a:solidFill>
                <a:srgbClr val="444444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11430000" cy="1737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Weight Revision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5001768"/>
            <a:ext cx="111556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C (Credit History): 55%   →   C1: 20%  |  C2: 10%  |  C3: 70%     (C3 receives majority weight given IV=5.43)</a:t>
            </a:r>
            <a:endParaRPr sz="11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F (Financial Factor): 45%  →   F1: 30%  |  F2: 15%  |  F3: 0% (remove)  |  F4: 25%  |  F5: 30%</a:t>
            </a:r>
            <a:endParaRPr sz="11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Q2: Scorecard Enhancement Suggestions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Six data-driven issues identified through monotonicity analysis and WoE calibration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624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F3 Sale Growth
Inverted Direction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Higher growth → higher default (11.4% vs 6.9%)
Spearman ρ = +0.696 — scoring direction wrong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Remove from scorecard or assign flat/neutral scores</a:t>
            </a:r>
            <a:endParaRPr sz="900" b="1" i="0">
              <a:solidFill>
                <a:srgbClr val="1A7A4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624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F4 Debt-to-Equity
Wrong Peak Bin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(0, 0.5) gets max +100 pts but has 20% default rate
(0.5, 1) has 0% defaults but only +80 pts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Shift max score to (0.5, 1); redesign bin boundaries</a:t>
            </a:r>
            <a:endParaRPr sz="900" b="1" i="0">
              <a:solidFill>
                <a:srgbClr val="1A7A4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455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F2 Net Profit Margin
Non-Monotone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&gt;15% margin defaults at 12% — same as loss-making firms
Not statistically significant (p=0.176)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224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Cap max score at (7.5–15) bin; reduce score for &gt;15%</a:t>
            </a:r>
            <a:endParaRPr sz="900" b="1" i="0">
              <a:solidFill>
                <a:srgbClr val="1A7A4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10896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455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C3 Bureau: Ambiguous
"Not Performed" Rule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349300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"Not performed (exempted)" = +100 pts, 0% default
"Not performed" = -100 pts, 16.7% default
200-point gap for visually identical categories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4224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Document clear business rule distinguishing the two</a:t>
            </a:r>
            <a:endParaRPr sz="900" b="1" i="0">
              <a:solidFill>
                <a:srgbClr val="1A7A4A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9204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28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F5 DSCR: Missing
Data Scored as Neutral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527608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122 customers with missing DSCR default at 14.8%
Nearly as risky as worst bin — yet scored 0 (neutral)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600760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Assign penalty score similar to (0, 0.25) bin</a:t>
            </a:r>
            <a:endParaRPr sz="900" b="1" i="0">
              <a:solidFill>
                <a:srgbClr val="1A7A4A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309360" y="4892040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56692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28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Replace Expert Scores
with PDO Calibration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0" y="527608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⚠ Current round numbers (-100, 0, +75, +100) are arbitrary
PDO framework: Points = -(Factor × WoE)
Example: C3 "Overdue &gt;90d" should be -608 not -100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600760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A"/>
                </a:solidFill>
              </a:rPr>
              <a:t>→ Adopt PDO-based scores: Base=600, PDO=20, Odds=50:1</a:t>
            </a:r>
            <a:endParaRPr sz="900" b="1" i="0">
              <a:solidFill>
                <a:srgbClr val="1A7A4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Q3: EDA Approach for Default Prediction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Structured four-step framework to identify key predictors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|  (1) Data Understanding
&amp; Quality Check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Variable types: categorical, numerical, macro time-series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Class balance: 50 defaults / 557 (9%) — significant imbalance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Missing vs sentinel values (99999998/99999999) → treat as bins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Outliers &amp; skewness: IQR-based detection; cap at 95th pctile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|  (2) Univariate Analysis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Categorical: default rate per bin → concentration check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Numerical: boxplots split by Default Flag → visual separation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Monotonicity: default rate should move consistently per bin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Macro variables: time-series plot vs portfolio default rate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|  (3) Bivariate Analysis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Numerical vs default: KS statistic, point-biserial correlation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Categorical vs default: chi-square test (F2 p=0.18, F3 p=0.76 → NS)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Multicollinearity: Pearson matrix + Cramér's V for categoricals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Vintage analysis: default rate by origination year → macro effects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886200"/>
            <a:ext cx="56692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|  (4) WoE &amp; IV Analysis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WoE_i = ln(%Bad_i / %Good_i)   |   IV = Σ(%Bad - %Good) × WoE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IV ranking: C3=5.43 ▸ F1=2.60 ▸ F5=1.58 ▸ F4=1.45 ▸ F3=0.04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0" y="52578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Features with IV &lt; 0.02 excluded; non-monotone WoE → rebin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0" y="57150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▸  Objective basis for weight assignment — replaces expert judgement</a:t>
            </a:r>
            <a:endParaRPr sz="1000" b="0" i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Q4: Logistic Regression for PD Estimation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Six-step development process with WoE encoding and PDO calibration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Data Prep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Handle sentinels as separate bins
Fill nulls → "Not available" bin</a:t>
            </a:r>
            <a:endParaRPr sz="1100" b="0" i="0">
              <a:solidFill>
                <a:srgbClr val="44444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51960" y="13258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807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WoE Encode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Replace bins with log-odds values
Linearises LR assumption by construction</a:t>
            </a:r>
            <a:endParaRPr sz="1100" b="0" i="0">
              <a:solidFill>
                <a:srgbClr val="444444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807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Train/Test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Stratified 80/20 split
5-fold CV — only 50 defaults available</a:t>
            </a:r>
            <a:endParaRPr sz="1100" b="0" i="0">
              <a:solidFill>
                <a:srgbClr val="444444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Train Model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class_weight="balanced" for 9% imbalance
L2 regularisation — tune C via grid search</a:t>
            </a:r>
            <a:endParaRPr sz="1100" b="0" i="0">
              <a:solidFill>
                <a:srgbClr val="444444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51960" y="31546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1546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PDO Calibrate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4340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Points = -(Factor × β × WoE)
Base=600, PDO=20, Odds=50:1</a:t>
            </a:r>
            <a:endParaRPr sz="1100" b="0" i="0">
              <a:solidFill>
                <a:srgbClr val="444444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38160" y="315468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154680"/>
            <a:ext cx="3657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6. Score → PD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PD = 1 / (1 + e^((score-offset)/factor))
Interpretable probability output</a:t>
            </a:r>
            <a:endParaRPr sz="1100" b="0" i="0">
              <a:solidFill>
                <a:srgbClr val="444444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5120640"/>
            <a:ext cx="11430000" cy="1554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12064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5721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Assumptions &amp; Limitations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5504688"/>
            <a:ext cx="11155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Assumptions: Binary outcome (Bernoulli) | Linearity in log-odds (satisfied via WoE) | Independence of observations | No perfect multicollinearity | Correct model specification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Key limitation: 50 defaults / 8 features = 6.25 EPV (below recommended threshold of 10) → use stronger regularisation, reduce features, report confidence intervals</a:t>
            </a:r>
            <a:endParaRPr sz="10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Results — Logistic Regression (WoE-encoded)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AUC = 0.87 | Gini = 0.74 | 5-Fold CV AUC = 0.82 ± 0.07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0.87</a:t>
            </a:r>
            <a:endParaRPr sz="3000" b="1" i="0">
              <a:solidFill>
                <a:srgbClr val="1A7A4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AUC-ROC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56032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0.74</a:t>
            </a:r>
            <a:endParaRPr sz="3000" b="1" i="0">
              <a:solidFill>
                <a:srgbClr val="1A7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Gini Coefficient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56032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</a:rPr>
              <a:t>0.82</a:t>
            </a:r>
            <a:endParaRPr sz="3000" b="1" i="0">
              <a:solidFill>
                <a:srgbClr val="2E86C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350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CV AUC (5-fold)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69680" y="1371600"/>
            <a:ext cx="27432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371600"/>
            <a:ext cx="2743200" cy="1005840"/>
          </a:xfrm>
          <a:prstGeom prst="rect">
            <a:avLst/>
          </a:prstGeom>
          <a:noFill/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3A5F"/>
                </a:solidFill>
              </a:rPr>
              <a:t>785 pts</a:t>
            </a:r>
            <a:endParaRPr sz="3000" b="1" i="0">
              <a:solidFill>
                <a:srgbClr val="1E3A5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Good Mean Score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5760" y="2606040"/>
            <a:ext cx="53035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33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4560" y="2633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LR Coef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1920" y="2633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LR Weight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2953512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C3 Credit Bureau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4560" y="29718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0.890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31920" y="29718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24.4%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3337560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558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F4 Debt-to-Equity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4560" y="33558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0.754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31920" y="33558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20.7%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3721608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398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F5 DSCR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4560" y="37398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0.583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31920" y="373989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16.0%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5760" y="4105656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12394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C2 Rescheduling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4560" y="412394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0.312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31920" y="412394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8.6%</a:t>
            </a:r>
            <a:endParaRPr sz="1000" b="1" i="0">
              <a:solidFill>
                <a:srgbClr val="444444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65760" y="4489704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507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C1 Restructuring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4560" y="4507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0.308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31920" y="4507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8.4%</a:t>
            </a:r>
            <a:endParaRPr sz="1000" b="1" i="0">
              <a:solidFill>
                <a:srgbClr val="444444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65760" y="4873752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F3 Sale Growth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4560" y="4892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0.297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31920" y="4892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 8.1%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65760" y="5257800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276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F1 Net Fixed Asset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94560" y="5276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0.285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931920" y="5276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7.8%</a:t>
            </a:r>
            <a:endParaRPr sz="1000" b="1" i="0">
              <a:solidFill>
                <a:srgbClr val="444444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5641848"/>
            <a:ext cx="530352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6601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F2 Net Profit Margin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194560" y="56601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0.220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931920" y="56601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44"/>
                </a:solidFill>
              </a:rPr>
              <a:t> 6.0%</a:t>
            </a:r>
            <a:endParaRPr sz="1000" b="1" i="0">
              <a:solidFill>
                <a:srgbClr val="444444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035040" y="2606040"/>
            <a:ext cx="5760720" cy="411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35040" y="2606040"/>
            <a:ext cx="57607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79" y="26426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Score Distribution &amp; Interpretation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72200" y="2990088"/>
            <a:ext cx="54864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Good customers (Default=0): Mean score = 785 pts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Bad customers  (Default=1): Mean score = 344 pts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Separation gap: ~440 points — strong discrimination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Score → PD mapping (Base=600, PDO=20, Odds=50:1):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645  →  PD ≈ 1.0%   (very low risk)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600  →  PD ≈ 2.0%   (base odds)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572  →  PD ≈ 5.0%   (moderate risk)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       Score 511  →  PD ≈ 20.0%  (high risk)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LR coefficients are directional — not true linear weights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IV remains the primary basis for scorecard weight justification</a:t>
            </a:r>
            <a:endParaRPr sz="10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Q5: Model Performance Evaluation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Three pillars: Discriminatory Power | Goodness-of-Fit | Forecasting Accuracy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Discriminatory Power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AUC-ROC: area under the ROC curve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→ AUC = 0.87 (target &gt; 0.75) ✓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Gini = 2×AUC - 1 = 0.74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KS Statistic: max separation between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good and bad score distributions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</a:rPr>
              <a:t>→ Target KS &gt; 0.30</a:t>
            </a:r>
            <a:endParaRPr sz="1000" b="1" i="0">
              <a:solidFill>
                <a:srgbClr val="1A7A4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657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Goodness of Fit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Log-likelihood: measures how well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3484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model fits observed defaults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3484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AIC / BIC: penalises model complexity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3484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→ use to compare lag structures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84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Hosmer-Lemeshow test: checks if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   predicted PD = actual default rate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365760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Forecasting Accuracy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0" y="1737360"/>
            <a:ext cx="3657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Confusion matrix: TP, FP, FN, TN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6676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Sensitivity (recall): % defaults caught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6676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Precision: % flagged that truly default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3429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PSI &lt; 0.10: score distribution stable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6676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Calibration curve: predicted vs actual PD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6676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Backtesting: compare PD to realised DR</a:t>
            </a:r>
            <a:endParaRPr sz="1000" b="0" i="0">
              <a:solidFill>
                <a:srgbClr val="444444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5760" y="5349240"/>
            <a:ext cx="11430000" cy="1325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34924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8581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Validation Framework for Small Sample (50 Defaults)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5733288"/>
            <a:ext cx="111556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Use 5-fold stratified CV instead of single train/test split — maximises use of limited default data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Bootstrap confidence intervals for AUC — quantify uncertainty in performance estimates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Report sensitivity ≥ 80% as minimum threshold — missing defaults is more costly than false alarms in credit risk</a:t>
            </a:r>
            <a:endParaRPr sz="10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PDO-Calibrated Scorecard — Selected Bins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Points = -(Factor × β × WoE)  |  Base Score=600, PDO=20, Odds=50:1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C3: Credit Bureau (Most Impactful — IV=5.43)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6692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Bin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176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Default Rate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9039" y="17099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WoE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7099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PDO Pts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496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Expert Pts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29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Overdue &gt;90d &gt;1yr ago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100%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49039" y="20299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+21.06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20299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-608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496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-100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2395728"/>
            <a:ext cx="566928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14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Overdue 61-90d &lt;1yr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1760" y="2414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30.0%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49039" y="24140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+1.47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24140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-42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94960" y="24140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-75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" y="2779776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980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Overdue 31-60d &lt;1yr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1760" y="2798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17.2%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49039" y="2798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+0.75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2798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 -22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0" y="27980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-50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3163824"/>
            <a:ext cx="566928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1821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No delinquency history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5176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5.6%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49039" y="31821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-0.52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0" y="31821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 +15</a:t>
            </a:r>
            <a:endParaRPr sz="900" b="0" i="0">
              <a:solidFill>
                <a:srgbClr val="1A7A4A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9496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+100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5760" y="3547872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No record found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5176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0.0%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49039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-19.63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0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+566</a:t>
            </a:r>
            <a:endParaRPr sz="900" b="0" i="0">
              <a:solidFill>
                <a:srgbClr val="1A7A4A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9496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  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1792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F4: Debt-to-Equity (Scoring Direction Issue)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0" y="1691640"/>
            <a:ext cx="557784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709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Bin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5528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Default Rate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5256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WoE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966960" y="17099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PDO Pts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78992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Expert Pts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17920" y="2011680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2029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(3, 5)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95528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33.3%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05256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+1.62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966960" y="20299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-47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8992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+20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17920" y="2395728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24140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(0, 0.5)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955280" y="2414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20.0%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52560" y="24140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+0.93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966960" y="24140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-27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789920" y="2414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+100 ← WRONG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217920" y="2779776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2798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(1.5, 3)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55280" y="2798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20.0%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052560" y="27980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+0.93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966960" y="2798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-27</a:t>
            </a:r>
            <a:endParaRPr sz="900" b="0" i="0">
              <a:solidFill>
                <a:srgbClr val="C0392B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789920" y="2798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+40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217920" y="3163824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31821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(0.5, 1)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95528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0.0%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052560" y="3182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-20.23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966960" y="31821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+584</a:t>
            </a:r>
            <a:endParaRPr sz="900" b="0" i="0">
              <a:solidFill>
                <a:srgbClr val="1A7A4A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78992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+80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217920" y="3547872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60" y="35661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(1, 1.5)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95528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 3.8%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05256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-0.90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966960" y="3566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A"/>
                </a:solidFill>
              </a:rPr>
              <a:t>+26</a:t>
            </a:r>
            <a:endParaRPr sz="900" b="0" i="0">
              <a:solidFill>
                <a:srgbClr val="1A7A4A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78992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+60</a:t>
            </a:r>
            <a:endParaRPr sz="900" b="0" i="0">
              <a:solidFill>
                <a:srgbClr val="444444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65760" y="4069080"/>
            <a:ext cx="1143000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5760" y="4069080"/>
            <a:ext cx="114300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410565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Insight: PDO vs Expert Scores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2920" y="4453128"/>
            <a:ext cx="11155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C3 "No record found" = 0 expert pts  vs  +566 PDO pts — expert scoring leaves significant signal uncaptured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F4 "(0, 0.5)" = +100 expert pts  vs  -27 PDO pts — expert scoring penalises safest bin incorrectly</a:t>
            </a:r>
            <a:endParaRPr sz="1000">
              <a:solidFill>
                <a:srgbClr val="444444"/>
              </a:solidFill>
            </a:endParaRP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▸  PDO calibration replaces arbitrary round numbers with mathematically grounded, auditable scores — critical for regulatory review</a:t>
            </a:r>
            <a:endParaRPr sz="10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Recommendations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B323"/>
                </a:solidFill>
              </a:rPr>
              <a:t>Data-driven enhancements to move beyond pure expert judgement</a:t>
            </a:r>
            <a:endParaRPr sz="1300" b="0" i="1">
              <a:solidFill>
                <a:srgbClr val="F0B323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Reweight C3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Increase Credit Bureau weight from 25% to ~38%
based on IV=5.43 — dominant predictor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Remove F3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Sale Growth has IV=0.04, p=0.758, inverted direction
→ remove or assign flat score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Fix F4 Bins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Restructure D/E bins — (0.5,1) has 0% default
but currently underscored vs (0,0.5)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PDO Calibration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Replace round expert numbers with WoE-based
PDO scores — interpretable and auditable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97680" y="297180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97180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Address EPV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3429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50 defaults / 8 features = 6.25 EPV &lt; 10
→ reduce features, increase regularisation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29600" y="2971800"/>
            <a:ext cx="3657600" cy="1554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971800"/>
            <a:ext cx="3657600" cy="384048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Add Macro Layer</a:t>
            </a:r>
            <a:endParaRPr sz="1200" b="1" i="0">
              <a:solidFill>
                <a:srgbClr val="1E3A5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0" y="3429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 lacks time dimension — recommend adding
GDP growth (lag 4Q) and interest rate overlay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B323"/>
                </a:solidFill>
              </a:rPr>
              <a:t>The hybrid approach — combining quantitative IV/WoE analysis with expert judgement — is the appropriate framework given the small sample of 50 defaults.</a:t>
            </a:r>
            <a:endParaRPr sz="1100" b="0" i="1">
              <a:solidFill>
                <a:srgbClr val="F0B32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10266</Words>
  <Application>WPS Spreadsheets</Application>
  <PresentationFormat>On-screen Show (4:3)</PresentationFormat>
  <Paragraphs>639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leekim</cp:lastModifiedBy>
  <cp:revision>2</cp:revision>
  <dcterms:created xsi:type="dcterms:W3CDTF">2026-03-16T23:58:48Z</dcterms:created>
  <dcterms:modified xsi:type="dcterms:W3CDTF">2026-03-16T23:58:48Z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888DF7A798991A163899B8695C0C8A05_43</vt:lpwstr>
  </property>
  <property fmtid="{D5CDD505-2E9C-101B-9397-08002B2CF9AE}" pid="3" name="KSOProductBuildVer">
    <vt:lpwstr>1033-6.11.0.8608</vt:lpwstr>
  </property>
</Properties>
</file>