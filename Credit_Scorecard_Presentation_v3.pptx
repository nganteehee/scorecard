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71" r:id="rId4"/>
    <p:sldId id="258" r:id="rId5"/>
    <p:sldId id="259" r:id="rId6"/>
    <p:sldId id="261" r:id="rId7"/>
    <p:sldId id="260" r:id="rId8"/>
    <p:sldId id="262" r:id="rId9"/>
    <p:sldId id="272" r:id="rId10"/>
    <p:sldId id="273" r:id="rId11"/>
    <p:sldId id="274" r:id="rId12"/>
    <p:sldId id="264" r:id="rId13"/>
    <p:sldId id="265" r:id="rId14"/>
    <p:sldId id="267" r:id="rId15"/>
    <p:sldId id="268" r:id="rId16"/>
    <p:sldId id="275" r:id="rId17"/>
  </p:sldIdLst>
  <p:sldSz cx="12188825" cy="6858000" type="screen4x3"/>
  <p:notesSz cx="6858000" cy="9144000"/>
  <p:embeddedFontLst>
    <p:embeddedFont>
      <p:font typeface="DejaVu Math TeX Gyre" panose="02000503000000000000" charset="0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834640"/>
            <a:ext cx="11868912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SME Credit Scorecard Development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600" b="0">
                <a:solidFill>
                  <a:srgbClr val="E8A000"/>
                </a:solidFill>
              </a:rPr>
              <a:t>SR&amp;T Senior Consultant, Regulatory &amp; Financial Risk: </a:t>
            </a:r>
            <a:r>
              <a:rPr lang="en-US" sz="1600" b="0">
                <a:solidFill>
                  <a:srgbClr val="E8A000"/>
                </a:solidFill>
              </a:rPr>
              <a:t>Risk Modelling</a:t>
            </a:r>
            <a:endParaRPr lang="en-US" sz="1600" b="0">
              <a:solidFill>
                <a:srgbClr val="E8A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>
                <a:solidFill>
                  <a:srgbClr val="CCCCCC"/>
                </a:solidFill>
                <a:sym typeface="+mn-ea"/>
              </a:rPr>
              <a:t>Lê Thị Kim Ngân </a:t>
            </a:r>
            <a:r>
              <a:rPr sz="1300">
                <a:solidFill>
                  <a:srgbClr val="CCCCCC"/>
                </a:solidFill>
                <a:sym typeface="+mn-ea"/>
              </a:rPr>
              <a:t>| </a:t>
            </a:r>
            <a:r>
              <a:rPr sz="1300">
                <a:solidFill>
                  <a:srgbClr val="CCCCCC"/>
                </a:solidFill>
                <a:sym typeface="+mn-ea"/>
              </a:rPr>
              <a:t>Candidate Technical Presentation</a:t>
            </a:r>
            <a:r>
              <a:rPr sz="1300" b="0">
                <a:solidFill>
                  <a:srgbClr val="CCCCCC"/>
                </a:solidFill>
              </a:rPr>
              <a:t> </a:t>
            </a:r>
            <a:endParaRPr lang="en-US" sz="1300" b="0">
              <a:solidFill>
                <a:srgbClr val="CCCCCC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53110" y="63754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sz="1300" b="0">
                <a:solidFill>
                  <a:srgbClr val="CCCCCC"/>
                </a:solidFill>
              </a:rPr>
              <a:t>March 2026</a:t>
            </a:r>
            <a:endParaRPr lang="en-US" sz="1300" b="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960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86891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Table of Contents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A000"/>
                </a:solidFill>
              </a:rPr>
              <a:t>SME Credit Scorecard Development  |  Candidate Technical Presentation</a:t>
            </a:r>
            <a:endParaRPr sz="1000" b="0">
              <a:solidFill>
                <a:srgbClr val="E8A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430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624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08760" y="12710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Background &amp; Data Overview</a:t>
            </a:r>
            <a:endParaRPr sz="1300" b="1">
              <a:solidFill>
                <a:srgbClr val="0D2B55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0574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574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768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II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21854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Exploratory Data Analysis (EDA)</a:t>
            </a:r>
            <a:endParaRPr sz="1300" b="1">
              <a:solidFill>
                <a:srgbClr val="0D2B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29718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1912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III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8760" y="30998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Recommendation on Risk Component Weights</a:t>
            </a:r>
            <a:endParaRPr sz="1300" b="1">
              <a:solidFill>
                <a:srgbClr val="0D2B55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38862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41056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IV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08760" y="4014215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Review of Formulated Scorecard</a:t>
            </a:r>
            <a:endParaRPr sz="1300" b="1">
              <a:solidFill>
                <a:srgbClr val="0D2B55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57200" y="48006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800600"/>
            <a:ext cx="960120" cy="8412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0200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V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08760" y="49286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Scorecard Model Development</a:t>
            </a:r>
            <a:endParaRPr sz="1300" b="1">
              <a:solidFill>
                <a:srgbClr val="0D2B55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57200" y="5715000"/>
            <a:ext cx="1138428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715000"/>
            <a:ext cx="54864" cy="84124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715000"/>
            <a:ext cx="960120" cy="8412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93445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VI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08760" y="584301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2B55"/>
                </a:solidFill>
              </a:rPr>
              <a:t>Model Validation</a:t>
            </a:r>
            <a:endParaRPr sz="1300" b="1">
              <a:solidFill>
                <a:srgbClr val="0D2B55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Background &amp; Data Overview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SME portfolio scorecard — expert-weighted system under review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Context</a:t>
            </a:r>
            <a:endParaRPr sz="1200" b="1">
              <a:solidFill>
                <a:srgbClr val="0D2B5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Dataset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557 SME borrowers, 8 features, 9.0% default rate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04825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Target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20482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Default Flag (1 = default, 0 = performing)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404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Scorecard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404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Expert-weighted, C + F components, score per bin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C Component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03120" y="2761488"/>
            <a:ext cx="3474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50% weight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11810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F Component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03120" y="31181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50% weight: F1–F5 financial ratios equally at 10% each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Missing Data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03120" y="3474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C2: 282 NaN (51%), Net Fixed Asset: 26 (5%)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831336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Sentinels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03120" y="3831336"/>
            <a:ext cx="3474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99999998/99999999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Objective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4187952"/>
            <a:ext cx="34747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</a:rPr>
              <a:t>Assess expert weights using</a:t>
            </a:r>
            <a:r>
              <a:rPr lang="en-US" sz="900" b="0">
                <a:solidFill>
                  <a:srgbClr val="0D2B55"/>
                </a:solidFill>
              </a:rPr>
              <a:t> quantitative analysis</a:t>
            </a:r>
            <a:r>
              <a:rPr sz="900" b="0">
                <a:solidFill>
                  <a:srgbClr val="0D2B55"/>
                </a:solidFill>
              </a:rPr>
              <a:t> ; develop LR-based PD model</a:t>
            </a:r>
            <a:endParaRPr sz="900" b="0">
              <a:solidFill>
                <a:srgbClr val="0D2B55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3600" y="1143000"/>
            <a:ext cx="58978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2B55"/>
                </a:solidFill>
              </a:rPr>
              <a:t>Feature Summary</a:t>
            </a:r>
            <a:endParaRPr sz="1200" b="1">
              <a:solidFill>
                <a:srgbClr val="0D2B55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" y="1572768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2645" y="1691640"/>
            <a:ext cx="5003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Code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0" y="16916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Feature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95360" y="16916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Type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20" y="1691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IV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98480" y="16916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2B55"/>
                </a:solidFill>
              </a:rPr>
              <a:t>Expert Wt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61888" y="202996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C1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0" y="2057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Restructuring History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95360" y="2057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20" y="2057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1.17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98480" y="20574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961888" y="235000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0" y="23774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Rescheduling History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95360" y="2377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75520" y="23774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0.57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698480" y="237744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61888" y="267004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2697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0800" y="269748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Worst CB Delinquency 2yr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95360" y="26974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Cat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75520" y="26974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5.43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698480" y="26974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25.0%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961888" y="299008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F1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30175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Net Fixed Asset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95360" y="30175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75520" y="3017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2.60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698480" y="30175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961888" y="3310128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3337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Net Profit Margin (%)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95360" y="33375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875520" y="33375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1.28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698480" y="33375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961888" y="3630168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F3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00800" y="36576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Sale Growth (%)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595360" y="3657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87552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0392B"/>
                </a:solidFill>
              </a:rPr>
              <a:t>0.04</a:t>
            </a:r>
            <a:endParaRPr sz="800" b="0">
              <a:solidFill>
                <a:srgbClr val="C0392B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69848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961888" y="3950207"/>
            <a:ext cx="5833872" cy="30175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89320" y="39776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F4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400800" y="39776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Debt-to-Equity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595360" y="3977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875520" y="397763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1.46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698480" y="397763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5961888" y="4270247"/>
            <a:ext cx="583387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89320" y="4297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F5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00800" y="42976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Debt Service Coverage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595360" y="42976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Num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75520" y="429767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1.58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698480" y="4297679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10.0%</a:t>
            </a:r>
            <a:endParaRPr sz="80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Univariate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Distribution and default rates across categorical and numerical features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0" y="1143000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Key Observations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</a:t>
            </a:r>
            <a:r>
              <a:rPr sz="850" b="1">
                <a:solidFill>
                  <a:srgbClr val="007A8A"/>
                </a:solidFill>
              </a:rPr>
              <a:t>1 </a:t>
            </a:r>
            <a:r>
              <a:rPr lang="en-US" sz="850" b="1">
                <a:solidFill>
                  <a:srgbClr val="007A8A"/>
                </a:solidFill>
              </a:rPr>
              <a:t>-</a:t>
            </a:r>
            <a:r>
              <a:rPr sz="850" b="1">
                <a:solidFill>
                  <a:srgbClr val="007A8A"/>
                </a:solidFill>
              </a:rPr>
              <a:t> </a:t>
            </a:r>
            <a:r>
              <a:rPr lang="en-US" sz="850" b="1">
                <a:solidFill>
                  <a:srgbClr val="007A8A"/>
                </a:solidFill>
              </a:rPr>
              <a:t>Net Fix Asset</a:t>
            </a:r>
            <a:endParaRPr lang="en-US" sz="85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1892808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>
                <a:solidFill>
                  <a:srgbClr val="0D2B55"/>
                </a:solidFill>
              </a:rPr>
              <a:t>Data have high variance and outliers. Fix asset of firms that not defaults have higher mean</a:t>
            </a:r>
            <a:endParaRPr lang="en-US" sz="8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0" y="2916936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F2 - </a:t>
            </a:r>
            <a:r>
              <a:rPr sz="850" b="1">
                <a:solidFill>
                  <a:srgbClr val="007A8A"/>
                </a:solidFill>
              </a:rPr>
              <a:t>Net Profit Margin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3118104"/>
            <a:ext cx="338328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Heavy left-skew, median near -8%; most SMEs unprofitable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3529584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F3 - </a:t>
            </a:r>
            <a:r>
              <a:rPr sz="850" b="1">
                <a:solidFill>
                  <a:srgbClr val="007A8A"/>
                </a:solidFill>
              </a:rPr>
              <a:t>Sale Growth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3730752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>
                <a:solidFill>
                  <a:srgbClr val="0D2B55"/>
                </a:solidFill>
              </a:rPr>
              <a:t>Quantile 1 and 3 of defaulter and non defaulter are approximately the same, </a:t>
            </a:r>
            <a:r>
              <a:rPr sz="800" b="0">
                <a:solidFill>
                  <a:srgbClr val="0D2B55"/>
                </a:solidFill>
              </a:rPr>
              <a:t>many zero-growth observations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2284222"/>
            <a:ext cx="33832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</a:t>
            </a:r>
            <a:r>
              <a:rPr lang="en-US" sz="850" b="1">
                <a:solidFill>
                  <a:srgbClr val="007A8A"/>
                </a:solidFill>
              </a:rPr>
              <a:t>F4 - </a:t>
            </a:r>
            <a:r>
              <a:rPr sz="850" b="1">
                <a:solidFill>
                  <a:srgbClr val="007A8A"/>
                </a:solidFill>
              </a:rPr>
              <a:t>DSCR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2485390"/>
            <a:ext cx="33832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Defaulters concentrated at </a:t>
            </a:r>
            <a:r>
              <a:rPr lang="en-US" sz="800" b="0">
                <a:solidFill>
                  <a:srgbClr val="0D2B55"/>
                </a:solidFill>
              </a:rPr>
              <a:t>lower </a:t>
            </a:r>
            <a:r>
              <a:rPr sz="800" b="0">
                <a:solidFill>
                  <a:srgbClr val="0D2B55"/>
                </a:solidFill>
              </a:rPr>
              <a:t>DSCR; non-defaulters spread across positive values</a:t>
            </a:r>
            <a:endParaRPr sz="800" b="0">
              <a:solidFill>
                <a:srgbClr val="0D2B55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" y="1143000"/>
            <a:ext cx="7459345" cy="4664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Monotonicity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Monotonicity Findings: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C1 Restructuring: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6255385"/>
            <a:ext cx="3657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Non-monotone: "Never restructured" has lower WoE than "No history" </a:t>
            </a:r>
            <a:r>
              <a:rPr lang="en-US" sz="800" b="0">
                <a:solidFill>
                  <a:srgbClr val="0D2B55"/>
                </a:solidFill>
              </a:rPr>
              <a:t>-</a:t>
            </a:r>
            <a:r>
              <a:rPr sz="800" b="0">
                <a:solidFill>
                  <a:srgbClr val="0D2B55"/>
                </a:solidFill>
              </a:rPr>
              <a:t> bins should be merged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C3 CB Delinquency: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0" y="6263640"/>
            <a:ext cx="36576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Broadly monotone: longer overdue → higher WoE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0" y="6053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▸ F4 D/E Ratio: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6263640"/>
            <a:ext cx="36576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D2B55"/>
                </a:solidFill>
              </a:rPr>
              <a:t>Partially monotone; (0.5,1) bin has zero defaults </a:t>
            </a:r>
            <a:endParaRPr sz="800" b="0">
              <a:solidFill>
                <a:srgbClr val="0D2B55"/>
              </a:solidFill>
            </a:endParaRPr>
          </a:p>
        </p:txBody>
      </p:sp>
      <p:pic>
        <p:nvPicPr>
          <p:cNvPr id="16" name="Picture 15" descr="eda_monotonici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25" y="1129030"/>
            <a:ext cx="10973435" cy="4424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EDA: Correlation &amp; Multicollinearity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Pearson correlation for numerical features; Cramér's V for categorical pairs</a:t>
            </a:r>
            <a:endParaRPr sz="1100" b="0">
              <a:solidFill>
                <a:srgbClr val="E8A000"/>
              </a:solidFill>
            </a:endParaRPr>
          </a:p>
        </p:txBody>
      </p:sp>
      <p:pic>
        <p:nvPicPr>
          <p:cNvPr id="7" name="Picture 6" descr="eda_corre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943600" cy="4114800"/>
          </a:xfrm>
          <a:prstGeom prst="rect">
            <a:avLst/>
          </a:prstGeom>
        </p:spPr>
      </p:pic>
      <p:pic>
        <p:nvPicPr>
          <p:cNvPr id="8" name="Picture 7" descr="eda_cramer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43000"/>
            <a:ext cx="3291840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92240" y="4023360"/>
            <a:ext cx="5349240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13308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Multicollinearity Findings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48056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Cramér's V: moderate correlation among credit history features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481076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Net Profit Margin and </a:t>
            </a:r>
            <a:r>
              <a:rPr lang="en-US" sz="850" b="0">
                <a:solidFill>
                  <a:srgbClr val="0D2B55"/>
                </a:solidFill>
              </a:rPr>
              <a:t>Net FIx Asset</a:t>
            </a:r>
            <a:r>
              <a:rPr sz="850" b="0">
                <a:solidFill>
                  <a:srgbClr val="0D2B55"/>
                </a:solidFill>
              </a:rPr>
              <a:t> show weak correlation 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5036185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No severe multicollinearity</a:t>
            </a:r>
            <a:endParaRPr sz="85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Q1: Feature Weight Assessment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E8A000"/>
                </a:solidFill>
              </a:rPr>
              <a:t>Apprach 1: </a:t>
            </a:r>
            <a:r>
              <a:rPr sz="1100" b="0">
                <a:solidFill>
                  <a:srgbClr val="E8A000"/>
                </a:solidFill>
              </a:rPr>
              <a:t>Information Value (IV) as objective measure vs expert-assigned weights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08990" y="4937760"/>
            <a:ext cx="728345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260" y="5047615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Recommendation: Proposed Weight Rebalancing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8545" y="5349240"/>
            <a:ext cx="69494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Using IV to assess predictive power: 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Sale Growth (IV=0.04) shows negligible signal and </a:t>
            </a:r>
            <a:r>
              <a:rPr lang="en-US" altLang="en-US" sz="1000" b="1">
                <a:solidFill>
                  <a:srgbClr val="0D2B55"/>
                </a:solidFill>
              </a:rPr>
              <a:t>should be removed</a:t>
            </a:r>
            <a:r>
              <a:rPr lang="en-US" altLang="en-US" sz="1000" b="0">
                <a:solidFill>
                  <a:srgbClr val="0D2B55"/>
                </a:solidFill>
              </a:rPr>
              <a:t>.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F1_Net Fixed Asset outperform F2_Net Profit Margin and  F4_Dept-to-Equity Ratio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- C1_Dept restructuring history have more predictive power than C2_Dept rescheduling history (reschedule)</a:t>
            </a:r>
            <a:endParaRPr lang="en-US" altLang="en-US" sz="1000" b="0">
              <a:solidFill>
                <a:srgbClr val="0D2B55"/>
              </a:solidFill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1207135"/>
            <a:ext cx="7315200" cy="3431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" name="Text Box 62"/>
          <p:cNvSpPr txBox="1"/>
          <p:nvPr/>
        </p:nvSpPr>
        <p:spPr>
          <a:xfrm>
            <a:off x="8124190" y="1478915"/>
            <a:ext cx="2353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i="1"/>
              <a:t>(*) IV calculation and ranking from book Intelligent credit scoring - Naeem Siddiqi </a:t>
            </a:r>
            <a:endParaRPr lang="en-US" sz="9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Q1: Feature Weight Assessment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rgbClr val="E8A000"/>
                </a:solidFill>
              </a:rPr>
              <a:t>Approach 2: Calculating </a:t>
            </a:r>
            <a:r>
              <a:rPr sz="1100" b="0">
                <a:solidFill>
                  <a:srgbClr val="E8A000"/>
                </a:solidFill>
              </a:rPr>
              <a:t>weights</a:t>
            </a:r>
            <a:r>
              <a:rPr lang="en-US" sz="1100" b="0">
                <a:solidFill>
                  <a:srgbClr val="E8A000"/>
                </a:solidFill>
              </a:rPr>
              <a:t> using linear regression model</a:t>
            </a:r>
            <a:endParaRPr lang="en-US" sz="1100" b="0">
              <a:solidFill>
                <a:srgbClr val="E8A000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94715" y="4796155"/>
            <a:ext cx="7806690" cy="16554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4260" y="5047615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Recommendation: Proposed Weight Rebalancing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58545" y="5349240"/>
            <a:ext cx="69494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Increase weights on highest-impact leverage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(1) Debt-to-Equity Ratio - second strongest predictive feature (currently underweighted by ~12 %)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(2) Debt Service Coverage Ratio (DSCR) - underweighted by ~ 6%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Decrease weights on features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(</a:t>
            </a:r>
            <a:r>
              <a:rPr lang="en-US" altLang="en-US" sz="1000">
                <a:solidFill>
                  <a:srgbClr val="0D2B55"/>
                </a:solidFill>
              </a:rPr>
              <a:t>1) Debt Restructuring History</a:t>
            </a:r>
            <a:endParaRPr lang="en-US" altLang="en-US" sz="1000">
              <a:solidFill>
                <a:srgbClr val="0D2B55"/>
              </a:solidFill>
            </a:endParaRPr>
          </a:p>
          <a:p>
            <a:pPr algn="l"/>
            <a:r>
              <a:rPr lang="en-US" altLang="en-US" sz="1000">
                <a:solidFill>
                  <a:srgbClr val="0D2B55"/>
                </a:solidFill>
              </a:rPr>
              <a:t>(2) Net Profit Margin</a:t>
            </a:r>
            <a:endParaRPr lang="en-US" altLang="en-US" sz="1000">
              <a:solidFill>
                <a:srgbClr val="0D2B55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185545" y="1718945"/>
            <a:ext cx="5029200" cy="2706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68425" y="1828673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1000" b="1">
                <a:solidFill>
                  <a:srgbClr val="0D2B55"/>
                </a:solidFill>
              </a:rPr>
              <a:t>LR Coefficients &amp; Normalised Importance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31265" y="214871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Feature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68625" y="2148713"/>
            <a:ext cx="100584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Coef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20185" y="2148713"/>
            <a:ext cx="86868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LR Wt%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34585" y="2148713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1">
                <a:solidFill>
                  <a:srgbClr val="0D2B55"/>
                </a:solidFill>
              </a:rPr>
              <a:t>Expert</a:t>
            </a:r>
            <a:endParaRPr sz="850" b="1">
              <a:solidFill>
                <a:srgbClr val="0D2B55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203833" y="2450465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31265" y="246875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C3 Worst CB Delinquency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68625" y="246875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0.897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20185" y="246875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26.60%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34585" y="246875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203833" y="2733929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1265" y="275221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F4 Debt-to-Equity Ratio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968625" y="275221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0.745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20185" y="2752217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22.17%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34585" y="2752217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203833" y="3017393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1265" y="303568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F5 DSCR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968625" y="3035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0.545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20185" y="303568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16.22%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934585" y="3035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203833" y="3300856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1265" y="331914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C2 Debt Rescheduling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8" name="TextBox 55"/>
          <p:cNvSpPr txBox="1"/>
          <p:nvPr/>
        </p:nvSpPr>
        <p:spPr>
          <a:xfrm>
            <a:off x="2968625" y="33191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0.469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9" name="TextBox 56"/>
          <p:cNvSpPr txBox="1"/>
          <p:nvPr/>
        </p:nvSpPr>
        <p:spPr>
          <a:xfrm>
            <a:off x="4020185" y="331914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13.96%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0" name="TextBox 57"/>
          <p:cNvSpPr txBox="1"/>
          <p:nvPr/>
        </p:nvSpPr>
        <p:spPr>
          <a:xfrm>
            <a:off x="4934585" y="33191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1" name="Rectangle 58"/>
          <p:cNvSpPr/>
          <p:nvPr/>
        </p:nvSpPr>
        <p:spPr>
          <a:xfrm>
            <a:off x="1203833" y="3584320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1265" y="360260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F1 Net Fixed Asset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968625" y="36026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0.282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020185" y="360260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 8.43%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12" name="TextBox 62"/>
          <p:cNvSpPr txBox="1"/>
          <p:nvPr/>
        </p:nvSpPr>
        <p:spPr>
          <a:xfrm>
            <a:off x="4934585" y="36026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203833" y="3867784"/>
            <a:ext cx="4974336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1265" y="388607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C1 Debt Restructuring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968625" y="3886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0.238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020185" y="388607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C0392B"/>
                </a:solidFill>
              </a:rPr>
              <a:t> 7.09%</a:t>
            </a:r>
            <a:endParaRPr sz="800" b="0">
              <a:solidFill>
                <a:srgbClr val="C0392B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934585" y="38860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12.5%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203833" y="4151248"/>
            <a:ext cx="4974336" cy="2743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31265" y="41695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F2 Net Profit Margin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968625" y="416953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0.182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020185" y="416953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 5.52%</a:t>
            </a:r>
            <a:endParaRPr sz="800" b="0">
              <a:solidFill>
                <a:srgbClr val="0D2B55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34585" y="41695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00" b="0">
                <a:solidFill>
                  <a:srgbClr val="0D2B55"/>
                </a:solidFill>
              </a:rPr>
              <a:t>10%</a:t>
            </a:r>
            <a:endParaRPr sz="80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chemeClr val="accent6"/>
                </a:solidFill>
              </a:rPr>
              <a:t>Approach : </a:t>
            </a:r>
            <a:r>
              <a:rPr sz="1100">
                <a:solidFill>
                  <a:schemeClr val="accent6"/>
                </a:solidFill>
                <a:sym typeface="+mn-ea"/>
              </a:rPr>
              <a:t>Validate monotonicity</a:t>
            </a:r>
            <a:r>
              <a:rPr lang="en-US" sz="1100">
                <a:solidFill>
                  <a:schemeClr val="accent6"/>
                </a:solidFill>
                <a:sym typeface="+mn-ea"/>
              </a:rPr>
              <a:t> - default rate</a:t>
            </a:r>
            <a:r>
              <a:rPr sz="1100">
                <a:solidFill>
                  <a:schemeClr val="accent6"/>
                </a:solidFill>
                <a:sym typeface="+mn-ea"/>
              </a:rPr>
              <a:t> must strictly increase band-by-band</a:t>
            </a:r>
            <a:r>
              <a:rPr lang="en-US" sz="1100" b="0">
                <a:solidFill>
                  <a:schemeClr val="accent6"/>
                </a:solidFill>
              </a:rPr>
              <a:t> </a:t>
            </a:r>
            <a:endParaRPr lang="en-US" sz="1100" b="0">
              <a:solidFill>
                <a:schemeClr val="accent6"/>
              </a:solidFill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Q2: Scorecard Enhancement Suggestions</a:t>
            </a:r>
            <a:endParaRPr sz="2200" b="1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6670"/>
            <a:ext cx="8754110" cy="2208530"/>
          </a:xfrm>
          <a:prstGeom prst="rect">
            <a:avLst/>
          </a:prstGeom>
        </p:spPr>
      </p:pic>
      <p:sp>
        <p:nvSpPr>
          <p:cNvPr id="13" name="Rectangle 55"/>
          <p:cNvSpPr/>
          <p:nvPr/>
        </p:nvSpPr>
        <p:spPr>
          <a:xfrm>
            <a:off x="311150" y="3796030"/>
            <a:ext cx="7283450" cy="16554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56"/>
          <p:cNvSpPr txBox="1"/>
          <p:nvPr/>
        </p:nvSpPr>
        <p:spPr>
          <a:xfrm>
            <a:off x="480695" y="4047490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1100" b="1">
                <a:solidFill>
                  <a:srgbClr val="0D2B55"/>
                </a:solidFill>
              </a:rPr>
              <a:t>Recommendation: </a:t>
            </a:r>
            <a:r>
              <a:rPr lang="en-US" altLang="en-US" sz="1100" b="1">
                <a:solidFill>
                  <a:srgbClr val="0D2B55"/>
                </a:solidFill>
              </a:rPr>
              <a:t>F3 Sale Growths - cap binning the score </a:t>
            </a:r>
            <a:endParaRPr lang="en-US" altLang="en-US" sz="1100" b="1">
              <a:solidFill>
                <a:srgbClr val="0D2B55"/>
              </a:solidFill>
            </a:endParaRPr>
          </a:p>
        </p:txBody>
      </p:sp>
      <p:sp>
        <p:nvSpPr>
          <p:cNvPr id="15" name="TextBox 57"/>
          <p:cNvSpPr txBox="1"/>
          <p:nvPr/>
        </p:nvSpPr>
        <p:spPr>
          <a:xfrm>
            <a:off x="474980" y="4349115"/>
            <a:ext cx="694944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Current scorecard score contradict default rate trend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Higher sales growth is associated with greater default risk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&gt; Suggesting that aggressive growth may signal financial distress rather than stability.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endParaRPr lang="en-US" altLang="en-US" sz="100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>
                <a:solidFill>
                  <a:schemeClr val="accent6"/>
                </a:solidFill>
              </a:rPr>
              <a:t>Approach : </a:t>
            </a:r>
            <a:r>
              <a:rPr sz="1100">
                <a:solidFill>
                  <a:schemeClr val="accent6"/>
                </a:solidFill>
                <a:sym typeface="+mn-ea"/>
              </a:rPr>
              <a:t>Validate monotonicity</a:t>
            </a:r>
            <a:r>
              <a:rPr lang="en-US" sz="1100">
                <a:solidFill>
                  <a:schemeClr val="accent6"/>
                </a:solidFill>
                <a:sym typeface="+mn-ea"/>
              </a:rPr>
              <a:t> - default rate</a:t>
            </a:r>
            <a:r>
              <a:rPr sz="1100">
                <a:solidFill>
                  <a:schemeClr val="accent6"/>
                </a:solidFill>
                <a:sym typeface="+mn-ea"/>
              </a:rPr>
              <a:t> must strictly increase band-by-band</a:t>
            </a:r>
            <a:r>
              <a:rPr lang="en-US" sz="1100" b="0">
                <a:solidFill>
                  <a:schemeClr val="accent6"/>
                </a:solidFill>
              </a:rPr>
              <a:t> </a:t>
            </a:r>
            <a:endParaRPr lang="en-US" sz="1100" b="0">
              <a:solidFill>
                <a:schemeClr val="accent6"/>
              </a:solidFill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Q2: Scorecard Enhancement Suggestions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13" name="Rectangle 55"/>
          <p:cNvSpPr/>
          <p:nvPr/>
        </p:nvSpPr>
        <p:spPr>
          <a:xfrm>
            <a:off x="480695" y="4337050"/>
            <a:ext cx="7283450" cy="16554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56"/>
          <p:cNvSpPr txBox="1"/>
          <p:nvPr/>
        </p:nvSpPr>
        <p:spPr>
          <a:xfrm>
            <a:off x="650240" y="4588510"/>
            <a:ext cx="6943725" cy="260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1100" b="1">
                <a:solidFill>
                  <a:srgbClr val="0D2B55"/>
                </a:solidFill>
              </a:rPr>
              <a:t>Recommendation: </a:t>
            </a:r>
            <a:r>
              <a:rPr lang="en-US" altLang="en-US" sz="1100" b="1">
                <a:solidFill>
                  <a:srgbClr val="0D2B55"/>
                </a:solidFill>
              </a:rPr>
              <a:t>F3 Sale Growths - change scores for 3 bins to ensure consistency </a:t>
            </a:r>
            <a:endParaRPr lang="en-US" altLang="en-US" sz="1100" b="1">
              <a:solidFill>
                <a:srgbClr val="0D2B55"/>
              </a:solidFill>
            </a:endParaRPr>
          </a:p>
        </p:txBody>
      </p:sp>
      <p:sp>
        <p:nvSpPr>
          <p:cNvPr id="15" name="TextBox 57"/>
          <p:cNvSpPr txBox="1"/>
          <p:nvPr/>
        </p:nvSpPr>
        <p:spPr>
          <a:xfrm>
            <a:off x="644525" y="4890135"/>
            <a:ext cx="694944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1000" b="1">
                <a:solidFill>
                  <a:srgbClr val="0D2B55"/>
                </a:solidFill>
              </a:rPr>
              <a:t>Credit score not consistent </a:t>
            </a:r>
            <a:endParaRPr lang="en-US" altLang="en-US" sz="1000" b="1">
              <a:solidFill>
                <a:srgbClr val="0D2B55"/>
              </a:solidFill>
            </a:endParaRPr>
          </a:p>
          <a:p>
            <a:pPr algn="l"/>
            <a:r>
              <a:rPr lang="en-US" altLang="en-US" sz="1000" b="0">
                <a:solidFill>
                  <a:srgbClr val="0D2B55"/>
                </a:solidFill>
              </a:rPr>
              <a:t>Among Credit bureau check not performed, No record found in credit bureau, and Not Available.</a:t>
            </a:r>
            <a:endParaRPr lang="en-US" altLang="en-US" sz="1000" b="0">
              <a:solidFill>
                <a:srgbClr val="0D2B55"/>
              </a:solidFill>
            </a:endParaRPr>
          </a:p>
          <a:p>
            <a:pPr algn="l"/>
            <a:r>
              <a:rPr lang="en-US" altLang="en-US" sz="1000">
                <a:solidFill>
                  <a:srgbClr val="0D2B55"/>
                </a:solidFill>
              </a:rPr>
              <a:t>While Credit bureau check not performed get penalised for -100 points,  the two other get neutral of 0 point</a:t>
            </a:r>
            <a:endParaRPr lang="en-US" altLang="en-US" sz="1000">
              <a:solidFill>
                <a:srgbClr val="0D2B55"/>
              </a:solidFill>
            </a:endParaRPr>
          </a:p>
          <a:p>
            <a:pPr algn="l"/>
            <a:r>
              <a:rPr lang="en-US" altLang="en-US" sz="1000">
                <a:solidFill>
                  <a:srgbClr val="0D2B55"/>
                </a:solidFill>
              </a:rPr>
              <a:t>&gt; Suggesting inconsistency</a:t>
            </a:r>
            <a:endParaRPr lang="en-US" altLang="en-US" sz="1000">
              <a:solidFill>
                <a:srgbClr val="0D2B55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1362075"/>
            <a:ext cx="9059545" cy="2673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Q3: EDA Methodology for Credit Risk Datasets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Structured five-step framework for borrower, financial and macroeconomic data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212848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
Data Quality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Missing value audit &amp; sentinel detection 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" y="237743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Skewness check</a:t>
            </a:r>
            <a:r>
              <a:rPr lang="en-US" sz="850" b="0">
                <a:solidFill>
                  <a:srgbClr val="0D2B55"/>
                </a:solidFill>
              </a:rPr>
              <a:t>, </a:t>
            </a:r>
            <a:r>
              <a:rPr sz="850" b="0">
                <a:solidFill>
                  <a:srgbClr val="0D2B55"/>
                </a:solidFill>
              </a:rPr>
              <a:t>IQR-based outlier treatment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" y="28803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Duplicate and data type validation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578608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15768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
Univariate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5496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Categorical: frequency, default rate per bin, concentration check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25496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Numerical: histogram, boxplot, describe()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25496" y="28803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Flag features with &gt;50% single-bin concentration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928616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65775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5775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5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
Bivariate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75503" y="1874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Numerical vs Target: KS test, Pearson correlation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75503" y="23774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Categorical vs Target: Chi-square, Cramér's V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78623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15783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5783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7223" y="1188720"/>
            <a:ext cx="20116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
</a:t>
            </a:r>
            <a:r>
              <a:rPr lang="en-US" sz="1000" b="1">
                <a:solidFill>
                  <a:srgbClr val="FFFFFF"/>
                </a:solidFill>
              </a:rPr>
              <a:t>IV/WoE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25511" y="1874519"/>
            <a:ext cx="201168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Q</a:t>
            </a:r>
            <a:r>
              <a:rPr sz="850">
                <a:solidFill>
                  <a:srgbClr val="0D2B55"/>
                </a:solidFill>
                <a:sym typeface="+mn-ea"/>
              </a:rPr>
              <a:t>uantify predictive power per bin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628632" y="2240280"/>
            <a:ext cx="137160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65792" y="1143000"/>
            <a:ext cx="221284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65792" y="1143000"/>
            <a:ext cx="2212848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1188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5
Macroeconomic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75519" y="187451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Usually affect the whole portforlio or segment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75519" y="237743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Shoud be consider as a adverse or favorable variable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75519" y="2880359"/>
            <a:ext cx="201168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</a:t>
            </a:r>
            <a:r>
              <a:rPr lang="en-US" sz="850" b="0">
                <a:solidFill>
                  <a:srgbClr val="0D2B55"/>
                </a:solidFill>
              </a:rPr>
              <a:t>Should be monitor in at least 1 business cycle</a:t>
            </a:r>
            <a:endParaRPr lang="en-US" sz="850" b="0">
              <a:solidFill>
                <a:srgbClr val="0D2B55"/>
              </a:solidFill>
            </a:endParaRPr>
          </a:p>
        </p:txBody>
      </p:sp>
      <p:sp>
        <p:nvSpPr>
          <p:cNvPr id="41" name="TextBox 35"/>
          <p:cNvSpPr txBox="1"/>
          <p:nvPr/>
        </p:nvSpPr>
        <p:spPr>
          <a:xfrm>
            <a:off x="9857105" y="3413760"/>
            <a:ext cx="1943100" cy="3524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0">
                <a:solidFill>
                  <a:srgbClr val="0D2B55"/>
                </a:solidFill>
              </a:rPr>
              <a:t>• Two-stage model: micro scorecard + macro adjustment</a:t>
            </a:r>
            <a:endParaRPr sz="850" b="0">
              <a:solidFill>
                <a:srgbClr val="0D2B5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Q4: PD Model Development — Logistic Regression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Theory, assumptions and implementation steps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Model Theory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609344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General</a:t>
            </a:r>
            <a:r>
              <a:rPr sz="900" b="1">
                <a:solidFill>
                  <a:srgbClr val="007A8A"/>
                </a:solidFill>
              </a:rPr>
              <a:t> formulation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1956815"/>
            <a:ext cx="530352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WoE encoding linearises the log-odds relationship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450591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▸ MLE estimation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5303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Parameters estimated by </a:t>
            </a:r>
            <a:r>
              <a:rPr lang="en-US" sz="850" b="0">
                <a:solidFill>
                  <a:srgbClr val="0D2B55"/>
                </a:solidFill>
              </a:rPr>
              <a:t>minimizing negative </a:t>
            </a:r>
            <a:r>
              <a:rPr sz="850" b="0">
                <a:solidFill>
                  <a:srgbClr val="0D2B55"/>
                </a:solidFill>
              </a:rPr>
              <a:t>log-likelihood</a:t>
            </a:r>
            <a:r>
              <a:rPr lang="en-US" sz="850" b="0">
                <a:solidFill>
                  <a:srgbClr val="0D2B55"/>
                </a:solidFill>
              </a:rPr>
              <a:t> function</a:t>
            </a:r>
            <a:r>
              <a:rPr sz="850" b="0">
                <a:solidFill>
                  <a:srgbClr val="0D2B55"/>
                </a:solidFill>
              </a:rPr>
              <a:t>
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0" y="1400810"/>
            <a:ext cx="5623560" cy="50457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618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Implementation Steps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1609344"/>
            <a:ext cx="1145743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09928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7282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56832" y="173736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1. Data Preparation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63640" y="2423160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56832" y="2450591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2. WoE Encoding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56832" y="2670048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Compute WoE per bin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63640" y="3136392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2055" y="315468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56832" y="316382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3. Train/Test Split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56832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80/20 stratified split; EPV check (need ≥10 defaults per feature)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63640" y="3849624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3867912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56705" y="3877310"/>
            <a:ext cx="5029200" cy="219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4. Model Training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3640" y="4918456"/>
            <a:ext cx="32004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2055" y="492760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6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56705" y="4937125"/>
            <a:ext cx="50292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5. </a:t>
            </a:r>
            <a:r>
              <a:rPr sz="900" b="1">
                <a:solidFill>
                  <a:srgbClr val="007A8A"/>
                </a:solidFill>
                <a:sym typeface="+mn-ea"/>
              </a:rPr>
              <a:t>Score Mapping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63640" y="5542788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2055" y="5552440"/>
            <a:ext cx="27432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7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56705" y="5561330"/>
            <a:ext cx="50292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A8A"/>
                </a:solidFill>
              </a:rPr>
              <a:t>6. </a:t>
            </a:r>
            <a:r>
              <a:rPr sz="900" b="1">
                <a:solidFill>
                  <a:srgbClr val="007A8A"/>
                </a:solidFill>
                <a:sym typeface="+mn-ea"/>
              </a:rPr>
              <a:t>PDO Calibration</a:t>
            </a:r>
            <a:endParaRPr sz="900" b="1">
              <a:solidFill>
                <a:srgbClr val="007A8A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39255" y="5220970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Score_i = Offset + Factor×β₀ + Σ[−Factor×βᵢ×WoEᵢ]</a:t>
            </a:r>
            <a:endParaRPr sz="850" b="0">
              <a:solidFill>
                <a:srgbClr val="0D2B55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Box 47"/>
              <p:cNvSpPr txBox="1"/>
              <p:nvPr/>
            </p:nvSpPr>
            <p:spPr>
              <a:xfrm>
                <a:off x="695960" y="2892425"/>
                <a:ext cx="3143250" cy="36576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none" rtlCol="0" anchor="t">
                <a:no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𝐽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𝑤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= 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naryPr>
                        <m:sub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=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𝑁</m:t>
                          </m:r>
                        </m:sup>
                        <m:e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𝑦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z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+(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y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 )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𝑙𝑜𝑔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(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z</m:t>
                          </m:r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ᵢ)</m:t>
                          </m:r>
                        </m:e>
                      </m:nary>
                    </m:oMath>
                  </m:oMathPara>
                </a14:m>
                <a:endParaRPr lang="en-US" sz="900"/>
              </a:p>
            </p:txBody>
          </p:sp>
        </mc:Choice>
        <mc:Fallback>
          <p:sp>
            <p:nvSpPr>
              <p:cNvPr id="48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2892425"/>
                <a:ext cx="3143250" cy="3657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 Box 48"/>
              <p:cNvSpPr txBox="1"/>
              <p:nvPr/>
            </p:nvSpPr>
            <p:spPr>
              <a:xfrm>
                <a:off x="696277" y="2178685"/>
                <a:ext cx="1157605" cy="23177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vertOverflow="clip" horzOverflow="clip" wrap="none" rtlCol="0" anchor="t">
                <a:spAutoFit/>
              </a:bodyPr>
              <a:lstStyle>
                <a:defPPr>
                  <a:defRPr lang="en-US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𝑓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=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𝜃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p>
                        <m:sSupPr>
                          <m:ctrlP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𝑤</m:t>
                          </m:r>
                        </m:e>
                        <m:sup>
                          <m:r>
                            <a:rPr lang="en-US" sz="9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p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sz="9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 </m:t>
                      </m:r>
                    </m:oMath>
                  </m:oMathPara>
                </a14:m>
                <a:endParaRPr lang="en-US" sz="900"/>
              </a:p>
            </p:txBody>
          </p:sp>
        </mc:Choice>
        <mc:Fallback>
          <p:sp>
            <p:nvSpPr>
              <p:cNvPr id="49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7" y="2178685"/>
                <a:ext cx="1157605" cy="231775"/>
              </a:xfrm>
              <a:prstGeom prst="rect">
                <a:avLst/>
              </a:prstGeom>
              <a:blipFill rotWithShape="1">
                <a:blip r:embed="rId2"/>
                <a:stretch>
                  <a:fillRect l="-27" r="27"/>
                </a:stretch>
              </a:blip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11"/>
          <p:cNvSpPr txBox="1"/>
          <p:nvPr/>
        </p:nvSpPr>
        <p:spPr>
          <a:xfrm>
            <a:off x="548640" y="3380866"/>
            <a:ext cx="530352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Have no close form soluion</a:t>
            </a:r>
            <a:endParaRPr lang="en-US" sz="900" b="1">
              <a:solidFill>
                <a:srgbClr val="007A8A"/>
              </a:solidFill>
            </a:endParaRPr>
          </a:p>
          <a:p>
            <a:pPr algn="l"/>
            <a:r>
              <a:rPr lang="en-US" sz="900">
                <a:solidFill>
                  <a:srgbClr val="0D2B55"/>
                </a:solidFill>
                <a:sym typeface="+mn-ea"/>
              </a:rPr>
              <a:t>Approximate close solution by iterating</a:t>
            </a:r>
            <a:endParaRPr lang="en-US" sz="900" b="1">
              <a:solidFill>
                <a:srgbClr val="007A8A"/>
              </a:solidFill>
            </a:endParaRPr>
          </a:p>
        </p:txBody>
      </p:sp>
      <p:graphicFrame>
        <p:nvGraphicFramePr>
          <p:cNvPr id="51" name="Table 50"/>
          <p:cNvGraphicFramePr/>
          <p:nvPr/>
        </p:nvGraphicFramePr>
        <p:xfrm>
          <a:off x="2687955" y="3553460"/>
          <a:ext cx="1541145" cy="180340"/>
        </p:xfrm>
        <a:graphic>
          <a:graphicData uri="http://schemas.openxmlformats.org/drawingml/2006/table">
            <a:tbl>
              <a:tblPr/>
              <a:tblGrid>
                <a:gridCol w="1541145"/>
              </a:tblGrid>
              <a:tr h="0">
                <a:tc>
                  <a:txBody>
                    <a:bodyPr/>
                    <a:p>
                      <a:pPr algn="l" fontAlgn="b"/>
                      <a:r>
                        <a:rPr sz="900" b="0" i="0">
                          <a:solidFill>
                            <a:srgbClr val="000000"/>
                          </a:solidFill>
                          <a:latin typeface="DejaVu Math TeX Gyre" panose="02000503000000000000" charset="0"/>
                          <a:ea typeface="Calibri"/>
                          <a:cs typeface="DejaVu Math TeX Gyre" panose="02000503000000000000" charset="0"/>
                        </a:rPr>
                        <a:t>w=w+η(yi​−zi​)xi​</a:t>
                      </a:r>
                      <a:endParaRPr sz="900" b="0" i="0">
                        <a:solidFill>
                          <a:srgbClr val="000000"/>
                        </a:solidFill>
                        <a:latin typeface="DejaVu Math TeX Gyre" panose="02000503000000000000" charset="0"/>
                        <a:ea typeface="Calibri"/>
                        <a:cs typeface="DejaVu Math TeX Gyre" panose="02000503000000000000" charset="0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7"/>
          <p:cNvSpPr txBox="1"/>
          <p:nvPr/>
        </p:nvSpPr>
        <p:spPr>
          <a:xfrm>
            <a:off x="427990" y="4096512"/>
            <a:ext cx="5303520" cy="2603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sz="1100" b="1">
                <a:solidFill>
                  <a:srgbClr val="0D2B55"/>
                </a:solidFill>
              </a:rPr>
              <a:t>Assumption</a:t>
            </a:r>
            <a:endParaRPr lang="en-US" sz="1100" b="1">
              <a:solidFill>
                <a:srgbClr val="0D2B55"/>
              </a:solidFill>
            </a:endParaRPr>
          </a:p>
        </p:txBody>
      </p:sp>
      <p:sp>
        <p:nvSpPr>
          <p:cNvPr id="55" name="Rectangle 7"/>
          <p:cNvSpPr/>
          <p:nvPr/>
        </p:nvSpPr>
        <p:spPr>
          <a:xfrm flipV="1">
            <a:off x="365760" y="4319905"/>
            <a:ext cx="5669280" cy="36576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6" name="TextBox 9"/>
          <p:cNvSpPr txBox="1"/>
          <p:nvPr/>
        </p:nvSpPr>
        <p:spPr>
          <a:xfrm>
            <a:off x="427990" y="458089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Binary or Ordinal Dependent Variable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58" name="TextBox 9"/>
          <p:cNvSpPr txBox="1"/>
          <p:nvPr/>
        </p:nvSpPr>
        <p:spPr>
          <a:xfrm>
            <a:off x="427990" y="488315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Independence of Observations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59" name="TextBox 9"/>
          <p:cNvSpPr txBox="1"/>
          <p:nvPr/>
        </p:nvSpPr>
        <p:spPr>
          <a:xfrm>
            <a:off x="427990" y="5212715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Absence of Multicollinearity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60" name="TextBox 9"/>
          <p:cNvSpPr txBox="1"/>
          <p:nvPr/>
        </p:nvSpPr>
        <p:spPr>
          <a:xfrm>
            <a:off x="427990" y="546608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altLang="en-US" sz="900" b="1">
                <a:solidFill>
                  <a:srgbClr val="007A8A"/>
                </a:solidFill>
              </a:rPr>
              <a:t>Linearity of Independent Variables with the Log-Odds</a:t>
            </a:r>
            <a:endParaRPr lang="en-US" altLang="en-US" sz="900" b="1">
              <a:solidFill>
                <a:srgbClr val="007A8A"/>
              </a:solidFill>
            </a:endParaRPr>
          </a:p>
        </p:txBody>
      </p:sp>
      <p:sp>
        <p:nvSpPr>
          <p:cNvPr id="61" name="TextBox 9"/>
          <p:cNvSpPr txBox="1"/>
          <p:nvPr/>
        </p:nvSpPr>
        <p:spPr>
          <a:xfrm>
            <a:off x="427990" y="5797550"/>
            <a:ext cx="530352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900" b="1">
                <a:solidFill>
                  <a:srgbClr val="007A8A"/>
                </a:solidFill>
              </a:rPr>
              <a:t>▸ </a:t>
            </a:r>
            <a:r>
              <a:rPr lang="en-US" sz="900" b="1">
                <a:solidFill>
                  <a:srgbClr val="007A8A"/>
                </a:solidFill>
              </a:rPr>
              <a:t>No extreme outliers</a:t>
            </a:r>
            <a:endParaRPr lang="en-US" sz="900" b="1">
              <a:solidFill>
                <a:srgbClr val="007A8A"/>
              </a:solidFill>
            </a:endParaRPr>
          </a:p>
        </p:txBody>
      </p:sp>
      <p:sp>
        <p:nvSpPr>
          <p:cNvPr id="62" name="TextBox 45"/>
          <p:cNvSpPr txBox="1"/>
          <p:nvPr/>
        </p:nvSpPr>
        <p:spPr>
          <a:xfrm>
            <a:off x="6812280" y="5817870"/>
            <a:ext cx="5029200" cy="35242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850" b="0">
                <a:solidFill>
                  <a:srgbClr val="0D2B55"/>
                </a:solidFill>
              </a:rPr>
              <a:t>Allocating rating classes to entities to ensure the calibration power of the division created is as high as possible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63" name="TextBox 45"/>
          <p:cNvSpPr txBox="1"/>
          <p:nvPr/>
        </p:nvSpPr>
        <p:spPr>
          <a:xfrm>
            <a:off x="6812407" y="4141851"/>
            <a:ext cx="5029200" cy="2216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lang="en-US" altLang="en-US" sz="850" b="0">
                <a:solidFill>
                  <a:srgbClr val="0D2B55"/>
                </a:solidFill>
              </a:rPr>
              <a:t>Set stopping condition when loss funcion small enough or by iteration 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64" name="Rectangle 34"/>
          <p:cNvSpPr/>
          <p:nvPr/>
        </p:nvSpPr>
        <p:spPr>
          <a:xfrm>
            <a:off x="6263640" y="4460494"/>
            <a:ext cx="32004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35"/>
          <p:cNvSpPr txBox="1"/>
          <p:nvPr/>
        </p:nvSpPr>
        <p:spPr>
          <a:xfrm>
            <a:off x="6282055" y="4485640"/>
            <a:ext cx="274320" cy="219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/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 b="1">
              <a:solidFill>
                <a:srgbClr val="FFFFFF"/>
              </a:solidFill>
            </a:endParaRPr>
          </a:p>
        </p:txBody>
      </p:sp>
      <p:sp>
        <p:nvSpPr>
          <p:cNvPr id="66" name="TextBox 36"/>
          <p:cNvSpPr txBox="1"/>
          <p:nvPr/>
        </p:nvSpPr>
        <p:spPr>
          <a:xfrm>
            <a:off x="6675120" y="4485640"/>
            <a:ext cx="5029200" cy="2197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l"/>
            <a:r>
              <a:rPr lang="en-US" sz="900" b="1">
                <a:solidFill>
                  <a:srgbClr val="007A8A"/>
                </a:solidFill>
              </a:rPr>
              <a:t>5</a:t>
            </a:r>
            <a:r>
              <a:rPr sz="900" b="1">
                <a:solidFill>
                  <a:srgbClr val="007A8A"/>
                </a:solidFill>
              </a:rPr>
              <a:t>. </a:t>
            </a:r>
            <a:r>
              <a:rPr lang="en-US" sz="900" b="1">
                <a:solidFill>
                  <a:srgbClr val="007A8A"/>
                </a:solidFill>
              </a:rPr>
              <a:t>Validation</a:t>
            </a:r>
            <a:endParaRPr lang="en-US" sz="900" b="1">
              <a:solidFill>
                <a:srgbClr val="007A8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Q5: Model Evaluation Framework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Three pillars: goodness-of-fit, discriminatory power, calibration</a:t>
            </a:r>
            <a:endParaRPr sz="1100" b="0">
              <a:solidFill>
                <a:srgbClr val="E8A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1
Goodness-of-Fit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Hosmer-Lemeshow Test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3383280" cy="74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Groups:                    10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Hosmer-Lemeshow Statistic: 4.8454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Degrees of Freedom:        8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P-value:                   0.7740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Good fit — fail to reject H0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Binomial Test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3383280" cy="100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Observed Defaults:   50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Total Borrowers:     557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Expected PD (avg):   0.0952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Expected Defaults:   53.0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p-value:             0.7182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Fail to reject H0 — predicted default rate matches observed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9768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143000"/>
            <a:ext cx="3749039" cy="6400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2
Discriminatory Power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3484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AUC-ROC = 0.90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0" y="2176272"/>
            <a:ext cx="3383280" cy="48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Model ranks 90% of default/non-default pairs correctly
Excellent </a:t>
            </a:r>
            <a:r>
              <a:rPr lang="en-US" sz="850" b="0">
                <a:solidFill>
                  <a:srgbClr val="0D2B55"/>
                </a:solidFill>
              </a:rPr>
              <a:t>-</a:t>
            </a:r>
            <a:r>
              <a:rPr sz="850" b="0">
                <a:solidFill>
                  <a:srgbClr val="0D2B55"/>
                </a:solidFill>
              </a:rPr>
              <a:t> robust even with extreme WoE values
Gini Coefficient = 2×AUC−1 = 0.80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29600" y="114300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143000"/>
            <a:ext cx="3749039" cy="64008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Pillar 3
Forecasting Accuracy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66760" y="1874519"/>
            <a:ext cx="3474720" cy="256032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90195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</a:rPr>
              <a:t>PSI — Population Stability</a:t>
            </a:r>
            <a:endParaRPr sz="900" b="1">
              <a:solidFill>
                <a:srgbClr val="0D2B55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12480" y="2176272"/>
            <a:ext cx="3383280" cy="1137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   precision    recall  f1-score   support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0          0.96      0.99      0.98       102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       1          0.86      0.60      0.71        10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 accuracy                               0.96       112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   macro avg     0.91      0.80     0.84      112</a:t>
            </a:r>
            <a:endParaRPr lang="en-US" altLang="en-US" sz="850" b="0">
              <a:solidFill>
                <a:srgbClr val="0D2B55"/>
              </a:solidFill>
            </a:endParaRPr>
          </a:p>
          <a:p>
            <a:pPr algn="l"/>
            <a:r>
              <a:rPr lang="en-US" altLang="en-US" sz="850" b="0">
                <a:solidFill>
                  <a:srgbClr val="0D2B55"/>
                </a:solidFill>
              </a:rPr>
              <a:t>weighted avg   0.95      0.96      0.95      112</a:t>
            </a:r>
            <a:endParaRPr lang="en-US" altLang="en-US" sz="850" b="0">
              <a:solidFill>
                <a:srgbClr val="0D2B55"/>
              </a:solidFill>
            </a:endParaRPr>
          </a:p>
        </p:txBody>
      </p:sp>
      <p:pic>
        <p:nvPicPr>
          <p:cNvPr id="35" name="Picture 34" descr="ro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861945"/>
            <a:ext cx="3060700" cy="23710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Score Distribution Analysis</a:t>
            </a:r>
            <a:endParaRPr sz="22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A000"/>
                </a:solidFill>
              </a:rPr>
              <a:t>PDO-calibrated scores mapped to 300–850 range with band-level default rates</a:t>
            </a:r>
            <a:endParaRPr sz="1100" b="0">
              <a:solidFill>
                <a:srgbClr val="E8A000"/>
              </a:solidFill>
            </a:endParaRPr>
          </a:p>
        </p:txBody>
      </p:sp>
      <p:pic>
        <p:nvPicPr>
          <p:cNvPr id="7" name="Picture 6" descr="score_band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7724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143000"/>
            <a:ext cx="35204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2618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55"/>
                </a:solidFill>
              </a:rPr>
              <a:t>PDO Calibration</a:t>
            </a:r>
            <a:endParaRPr sz="1100" b="1">
              <a:solidFill>
                <a:srgbClr val="0D2B55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PDO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29800" y="1691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20 (score doubles odds per 20 pts)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0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Base Score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29800" y="20391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600 at odds 50:1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03920" y="2386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Factor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29800" y="23865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PDO/ln(2) = 28.85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0" y="27340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Offset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29800" y="27340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Base − Factor×ln(Base_Odds) = 487.1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0" y="3081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Intercept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29800" y="308152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Factor × β₀ = 10.55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342899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7A8A"/>
                </a:solidFill>
              </a:rPr>
              <a:t>Score Range</a:t>
            </a:r>
            <a:endParaRPr sz="850" b="1">
              <a:solidFill>
                <a:srgbClr val="007A8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29800" y="342899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300–850 (min-max scaled)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</a:rPr>
              <a:t>Score Band Findings</a:t>
            </a:r>
            <a:endParaRPr sz="1000" b="1">
              <a:solidFill>
                <a:srgbClr val="0D2B55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42519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300–498: 44.8% default rate → High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920" y="45994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498–513: 5–13% default rate → Medium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03920" y="49469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513+: 0–3.5% default rate → Low Risk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52943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Clear separation validates model discrimination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0" y="56418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D2B55"/>
                </a:solidFill>
              </a:rPr>
              <a:t>• Bands 513–850: 0 defaults in top 5 bands</a:t>
            </a:r>
            <a:endParaRPr sz="850" b="0">
              <a:solidFill>
                <a:srgbClr val="0D2B55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77724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5896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⚠  Calibration Issue: Predicted avg PD = 34.97% vs Actual 9.0% — due to class_weight="balanced" distorting probabilities. Apply Platt scaling before using PD values for provisioning or pricing.</a:t>
            </a:r>
            <a:endParaRPr sz="900" b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11804904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803136"/>
            <a:ext cx="11804904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749808"/>
            <a:ext cx="103601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9AA"/>
                </a:solidFill>
              </a:rPr>
              <a:t>Based on quantitative analysis, three actions are recommended to strengthen the scorecard:</a:t>
            </a:r>
            <a:endParaRPr sz="1050" b="0" i="1">
              <a:solidFill>
                <a:srgbClr val="8899AA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7592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Reassess the Weights of Risk Components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7512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C3 (Worst CB Delinquency) is the strongest predictor with IV = 5.43 — its 25% weight is justified and may warrant an increase to 30%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F3 Sale Growth has IV = 0.04, below the acceptable threshold — it should be removed or replaced with a more predictive variable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D/E Ratio and DSCR are underweighted relative to their data-implied importance — consider increasing both to 15%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428853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IV as the primary basis for weight assignment rather than expert judgement alone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61688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417320"/>
            <a:ext cx="361188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1688" y="1417320"/>
            <a:ext cx="64008" cy="50749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1536192"/>
            <a:ext cx="566928" cy="56692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66359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Adjust Bins and the Formulated Scorecard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176272"/>
            <a:ext cx="329184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974" y="231343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Merge non-monotone bins where WoE direction breaks the expected risk ordering (e.g. C1 Restructuring)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53584" y="3620516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Validate monotonicity after each bin adjustment — default rate must strictly increase from best to worst bin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0455" y="1417320"/>
            <a:ext cx="3611880" cy="507492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5" y="1417320"/>
            <a:ext cx="361188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5" y="1417320"/>
            <a:ext cx="64008" cy="50749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57615" y="1536192"/>
            <a:ext cx="566928" cy="56692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1554480"/>
            <a:ext cx="566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  <a:endParaRPr sz="1500" b="1" i="0">
              <a:solidFill>
                <a:srgbClr val="FFFFFF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25128" y="155448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Combine Quantitative Model with Expert Model</a:t>
            </a:r>
            <a:endParaRPr sz="1050" b="1" i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85047" y="2176272"/>
            <a:ext cx="329184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7" y="2286000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Use LR-implied coefficients to cross-validate expert weights — flag features where the gap exceeds 5 percentage points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85047" y="2953512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Adopt a hybrid approach: data-driven weights as the baseline, with expert overlay for features with limited historical data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85047" y="362102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</a:rPr>
              <a:t>•  Incorporate macroeconomic variables (GDP growth, interest rates) in a two-stage model: micro scorecard × macro scalar</a:t>
            </a:r>
            <a:endParaRPr sz="850" b="0" i="0">
              <a:solidFill>
                <a:srgbClr val="8899AA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02920" y="6492240"/>
            <a:ext cx="11183112" cy="18288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501384"/>
            <a:ext cx="10835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Model achieves AUC = 0.90 — strong discrimination — but requires calibration and structural fixes before production deployment.</a:t>
            </a:r>
            <a:endParaRPr sz="800" b="0" i="0">
              <a:solidFill>
                <a:srgbClr val="E8A000"/>
              </a:solidFill>
            </a:endParaRPr>
          </a:p>
        </p:txBody>
      </p:sp>
      <p:sp>
        <p:nvSpPr>
          <p:cNvPr id="44" name="TextBox 28"/>
          <p:cNvSpPr txBox="1"/>
          <p:nvPr/>
        </p:nvSpPr>
        <p:spPr>
          <a:xfrm>
            <a:off x="4553584" y="2926334"/>
            <a:ext cx="3310128" cy="6400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/>
            <a:r>
              <a:rPr sz="850" b="0" i="0">
                <a:solidFill>
                  <a:srgbClr val="8899AA"/>
                </a:solidFill>
              </a:rPr>
              <a:t>•  Cap extreme values at 5th–95th percentile before binning to reduce sensitivity to outliers in skewed features</a:t>
            </a:r>
            <a:endParaRPr sz="850" b="0" i="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9613</Words>
  <Application>WPS Spreadsheets</Application>
  <PresentationFormat>On-screen Show (4:3)</PresentationFormat>
  <Paragraphs>576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Apple Color Emoji</vt:lpstr>
      <vt:lpstr>Calibri</vt:lpstr>
      <vt:lpstr>DejaVu Math TeX Gyre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leekim</cp:lastModifiedBy>
  <cp:revision>9</cp:revision>
  <dcterms:created xsi:type="dcterms:W3CDTF">2026-03-18T00:40:55Z</dcterms:created>
  <dcterms:modified xsi:type="dcterms:W3CDTF">2026-03-18T00:40:55Z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183889C9EBF341C229CAB96909D0C3FF_42</vt:lpwstr>
  </property>
  <property fmtid="{D5CDD505-2E9C-101B-9397-08002B2CF9AE}" pid="3" name="KSOProductBuildVer">
    <vt:lpwstr>1033-6.11.0.8608</vt:lpwstr>
  </property>
</Properties>
</file>