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11804904" cy="7315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6784848"/>
            <a:ext cx="11804904" cy="7315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-914400"/>
            <a:ext cx="4114800" cy="4114800"/>
          </a:xfrm>
          <a:prstGeom prst="rect">
            <a:avLst/>
          </a:prstGeom>
          <a:solidFill>
            <a:srgbClr val="103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41280" y="4572000"/>
            <a:ext cx="3200400" cy="3200400"/>
          </a:xfrm>
          <a:prstGeom prst="rect">
            <a:avLst/>
          </a:prstGeom>
          <a:solidFill>
            <a:srgbClr val="103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651760"/>
            <a:ext cx="10607040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0058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SME Credit Scorecard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A000"/>
                </a:solidFill>
              </a:rPr>
              <a:t>Credit Risk Model: Weight Assessment, EDA &amp; PD Estimation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077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</a:rPr>
              <a:t>Candidate Technical Presentation  |  Deloitte Credit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749039"/>
            <a:ext cx="2194560" cy="777240"/>
          </a:xfrm>
          <a:prstGeom prst="rect">
            <a:avLst/>
          </a:prstGeom>
          <a:solidFill>
            <a:srgbClr val="1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749039"/>
            <a:ext cx="2194560" cy="457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22191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062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8A000"/>
                </a:solidFill>
              </a:rPr>
              <a:t>Borrowers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3749039"/>
            <a:ext cx="2194560" cy="777240"/>
          </a:xfrm>
          <a:prstGeom prst="rect">
            <a:avLst/>
          </a:prstGeom>
          <a:solidFill>
            <a:srgbClr val="1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3749039"/>
            <a:ext cx="2194560" cy="457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3822191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2062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8A000"/>
                </a:solidFill>
              </a:rPr>
              <a:t>Features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3749039"/>
            <a:ext cx="2194560" cy="777240"/>
          </a:xfrm>
          <a:prstGeom prst="rect">
            <a:avLst/>
          </a:prstGeom>
          <a:solidFill>
            <a:srgbClr val="1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3749039"/>
            <a:ext cx="2194560" cy="457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79" y="3822191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9.0%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79" y="42062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8A000"/>
                </a:solidFill>
              </a:rPr>
              <a:t>Default 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59" y="3749039"/>
            <a:ext cx="2194560" cy="777240"/>
          </a:xfrm>
          <a:prstGeom prst="rect">
            <a:avLst/>
          </a:prstGeom>
          <a:solidFill>
            <a:srgbClr val="1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95359" y="3749039"/>
            <a:ext cx="2194560" cy="457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799" y="3822191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0.90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799" y="42062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8A000"/>
                </a:solidFill>
              </a:rPr>
              <a:t>AUC-ROC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A000"/>
                </a:solidFill>
              </a:rPr>
              <a:t>Key findings across weight assessment, model performance and recommendations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6597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SME Credit Scorecard Development  |  Deloitte Credit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65976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AA"/>
                </a:solidFill>
              </a:rPr>
              <a:t>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170432"/>
            <a:ext cx="2231136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70432"/>
            <a:ext cx="2231136" cy="6400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80160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7A8A"/>
                </a:solidFill>
              </a:rPr>
              <a:t>0.90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73936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2B55"/>
                </a:solidFill>
              </a:rPr>
              <a:t>AUC-ROC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20824"/>
            <a:ext cx="20482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9AA"/>
                </a:solidFill>
              </a:rPr>
              <a:t>Excellent discrimination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170432"/>
            <a:ext cx="2231136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0" y="1170432"/>
            <a:ext cx="2231136" cy="6400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1280160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7A8A"/>
                </a:solidFill>
              </a:rPr>
              <a:t>0.80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1773936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2B55"/>
                </a:solidFill>
              </a:rPr>
              <a:t>Gini Coefficient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020824"/>
            <a:ext cx="20482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9AA"/>
                </a:solidFill>
              </a:rPr>
              <a:t>Strong predictive power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1170432"/>
            <a:ext cx="2231136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74920" y="1170432"/>
            <a:ext cx="2231136" cy="640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59" y="1280160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2B55"/>
                </a:solidFill>
              </a:rPr>
              <a:t>9.0%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59" y="1773936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2B55"/>
                </a:solidFill>
              </a:rPr>
              <a:t>Portfolio Default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59" y="2020824"/>
            <a:ext cx="20482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9AA"/>
                </a:solidFill>
              </a:rPr>
              <a:t>50 / 557 borrowers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1170432"/>
            <a:ext cx="2231136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06640" y="1170432"/>
            <a:ext cx="2231136" cy="6400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1280160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7A8A"/>
                </a:solidFill>
              </a:rPr>
              <a:t>C3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1773936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2B55"/>
                </a:solidFill>
              </a:rPr>
              <a:t>Top Predictor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2020824"/>
            <a:ext cx="20482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9AA"/>
                </a:solidFill>
              </a:rPr>
              <a:t>CB Delinquency IV = 5.43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38359" y="1170432"/>
            <a:ext cx="2231136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38359" y="1170432"/>
            <a:ext cx="2231136" cy="64008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9799" y="1280160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47E00"/>
                </a:solidFill>
              </a:rPr>
              <a:t>D/E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799" y="1773936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2B55"/>
                </a:solidFill>
              </a:rPr>
              <a:t>Underweighted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799" y="2020824"/>
            <a:ext cx="20482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9AA"/>
                </a:solidFill>
              </a:rPr>
              <a:t>LR 22% vs Expert 10%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2487168"/>
            <a:ext cx="11365992" cy="274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2578608"/>
            <a:ext cx="3749039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2578608"/>
            <a:ext cx="50292" cy="388620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" y="2670048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2B55"/>
                </a:solidFill>
              </a:rPr>
              <a:t>Q1 — Weight Assessment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" y="2962656"/>
            <a:ext cx="3474720" cy="1828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" y="3035808"/>
            <a:ext cx="34930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C3 CB Delinquency IV=5.43 — dominant predictor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" y="3319272"/>
            <a:ext cx="34930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D/E Ratio underweighted: expert 10% vs LR-implied 22%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" y="3602736"/>
            <a:ext cx="34930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DSCR underweighted: expert 10% vs LR-implied 16%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" y="3886200"/>
            <a:ext cx="34930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F3 Sale Growth IV=0.04 — negligible signal, remove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15968" y="2578608"/>
            <a:ext cx="3749039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15968" y="2578608"/>
            <a:ext cx="50292" cy="3886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0559" y="2670048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2B55"/>
                </a:solidFill>
              </a:rPr>
              <a:t>Q2 — Scorecard Enhancements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80559" y="2962656"/>
            <a:ext cx="3474720" cy="1828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80559" y="3035808"/>
            <a:ext cx="34930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Apply Laplace smoothing to avoid WoE explosion (±20)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0559" y="3319272"/>
            <a:ext cx="34930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Merge zero-default bins to improve monotonicity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59" y="3602736"/>
            <a:ext cx="34930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Recalibrate PD — class_weight inflates PD 4×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0559" y="3886200"/>
            <a:ext cx="34930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Add macroeconomic overlay (GDP, interest rates)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0455" y="2578608"/>
            <a:ext cx="3749039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0455" y="2578608"/>
            <a:ext cx="50292" cy="388620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85047" y="2670048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2B55"/>
                </a:solidFill>
              </a:rPr>
              <a:t>Q4/Q5 — Model &amp; Validation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85047" y="2962656"/>
            <a:ext cx="3474720" cy="1828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85047" y="3035808"/>
            <a:ext cx="34930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LR with WoE encoding, AUC = 0.90, Gini = 0.80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85047" y="3319272"/>
            <a:ext cx="34930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HL test fails: extreme WoE distorts calibration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85047" y="3602736"/>
            <a:ext cx="34930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Binomial test: predicted 35% vs actual 9%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85047" y="3886200"/>
            <a:ext cx="34930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Score mapped to 300–850; clear band separation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I. Background &amp; Data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A000"/>
                </a:solidFill>
              </a:rPr>
              <a:t>SME portfolio scorecard — expert-weighted system under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6597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SME Credit Scorecard Development  |  Deloitte Credit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65976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AA"/>
                </a:solidFill>
              </a:rPr>
              <a:t>3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170432"/>
            <a:ext cx="5394960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70432"/>
            <a:ext cx="539496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2161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Dataset Context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" y="1645920"/>
            <a:ext cx="5358384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68249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8A"/>
                </a:solidFill>
              </a:rPr>
              <a:t>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9968" y="1682496"/>
            <a:ext cx="3639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557 SME borrowers · 8 features · 9.0% default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" y="1993392"/>
            <a:ext cx="5358384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02996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8A"/>
                </a:solidFill>
              </a:rPr>
              <a:t>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2029968"/>
            <a:ext cx="3639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Default Flag  (1 = default, 0 = performing)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" y="2340864"/>
            <a:ext cx="5358384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37744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8A"/>
                </a:solidFill>
              </a:rPr>
              <a:t>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2377440"/>
            <a:ext cx="3639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C component 50% + F component 50%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" y="2688336"/>
            <a:ext cx="5358384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72491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8A"/>
                </a:solidFill>
              </a:rPr>
              <a:t>C Component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2724912"/>
            <a:ext cx="3639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C1 Restructuring · C2 Rescheduling · C3 CB Delinquency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" y="3035808"/>
            <a:ext cx="5358384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07238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8A"/>
                </a:solidFill>
              </a:rPr>
              <a:t>F Component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9968" y="3072384"/>
            <a:ext cx="3639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F1–F5 financial ratios, each weighted 10%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" y="3383279"/>
            <a:ext cx="5358384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41985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8A"/>
                </a:solidFill>
              </a:rPr>
              <a:t>Missing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9968" y="3419856"/>
            <a:ext cx="3639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C2: 282 NaN (51%) · Net Fixed Asset: 26 rows (5%)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" y="3730752"/>
            <a:ext cx="5358384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3767327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8A"/>
                </a:solidFill>
              </a:rPr>
              <a:t>Sentinels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29968" y="3767327"/>
            <a:ext cx="3639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99999999 = zero denominator · 99999998 = negative equity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" y="4078224"/>
            <a:ext cx="5358384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4114799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8A"/>
                </a:solidFill>
              </a:rPr>
              <a:t>Objective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29968" y="4114799"/>
            <a:ext cx="3639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Assess expert weights via IV; build LR-based PD model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1170432"/>
            <a:ext cx="5760720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35040" y="1170432"/>
            <a:ext cx="576072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121615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Feature Summary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2084832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Code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5392" y="2084832"/>
            <a:ext cx="2002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Feature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13648" y="20848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Type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82912" y="208483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IV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22992" y="208483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Expert Wt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63072" y="2084832"/>
            <a:ext cx="886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Signal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0760" y="1993392"/>
            <a:ext cx="5669280" cy="2286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53328" y="2066543"/>
            <a:ext cx="5715000" cy="310896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2093975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5566"/>
                </a:solidFill>
              </a:rPr>
              <a:t>C1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65392" y="2093975"/>
            <a:ext cx="2002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Debt Restructuring Hist.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13648" y="2093975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Cat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82912" y="2093975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1.17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22992" y="2093975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12.5%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63072" y="2084831"/>
            <a:ext cx="841247" cy="246888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08792" y="2121408"/>
            <a:ext cx="7498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8A50"/>
                </a:solidFill>
              </a:rPr>
              <a:t>Strong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53328" y="2395727"/>
            <a:ext cx="57150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0760" y="2423159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5566"/>
                </a:solidFill>
              </a:rPr>
              <a:t>C2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65392" y="2423159"/>
            <a:ext cx="2002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Debt Rescheduling Hist.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13648" y="242315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Cat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82912" y="2423159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0.57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22992" y="2423159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12.5%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863072" y="2414015"/>
            <a:ext cx="841247" cy="246888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908792" y="2450591"/>
            <a:ext cx="7498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8A50"/>
                </a:solidFill>
              </a:rPr>
              <a:t>Moderate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53328" y="2724911"/>
            <a:ext cx="5715000" cy="310896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80760" y="2752343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5566"/>
                </a:solidFill>
              </a:rPr>
              <a:t>C3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65392" y="2752343"/>
            <a:ext cx="2002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Worst CB Delinquency 2yr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13648" y="2752343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Cat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82912" y="2752343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5.43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22992" y="2752343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25.0%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863072" y="2743199"/>
            <a:ext cx="841247" cy="246888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908792" y="2779775"/>
            <a:ext cx="7498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8A50"/>
                </a:solidFill>
              </a:rPr>
              <a:t>Strong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53328" y="3054095"/>
            <a:ext cx="57150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80760" y="3081527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5566"/>
                </a:solidFill>
              </a:rPr>
              <a:t>F1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65392" y="3081527"/>
            <a:ext cx="2002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Net Fixed Asset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13648" y="3081527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Num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82912" y="3081527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2.60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22992" y="3081527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10.0%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863072" y="3072383"/>
            <a:ext cx="841247" cy="246888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908792" y="3108959"/>
            <a:ext cx="7498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8A50"/>
                </a:solidFill>
              </a:rPr>
              <a:t>Strong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53328" y="3383279"/>
            <a:ext cx="5715000" cy="310896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080760" y="3410711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5566"/>
                </a:solidFill>
              </a:rPr>
              <a:t>F2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65392" y="3410711"/>
            <a:ext cx="2002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Net Profit Margin (%)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13648" y="341071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Num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82912" y="3410711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1.28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222992" y="3410711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10.0%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863072" y="3401567"/>
            <a:ext cx="841247" cy="246888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908792" y="3438143"/>
            <a:ext cx="7498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8A50"/>
                </a:solidFill>
              </a:rPr>
              <a:t>Strong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053328" y="3712463"/>
            <a:ext cx="57150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080760" y="3739895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5566"/>
                </a:solidFill>
              </a:rPr>
              <a:t>F3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65392" y="3739895"/>
            <a:ext cx="2002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Sale Growth (%)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613648" y="3739895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Num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582912" y="3739895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0392B"/>
                </a:solidFill>
              </a:rPr>
              <a:t>0.04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222992" y="3739895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10.0%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863072" y="3730751"/>
            <a:ext cx="841247" cy="246888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908792" y="3767327"/>
            <a:ext cx="7498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0392B"/>
                </a:solidFill>
              </a:rPr>
              <a:t>Weak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053328" y="4041648"/>
            <a:ext cx="5715000" cy="310896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080760" y="4069079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5566"/>
                </a:solidFill>
              </a:rPr>
              <a:t>F4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65392" y="4069079"/>
            <a:ext cx="2002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Debt-to-Equity Ratio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613648" y="406907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Num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582912" y="4069079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1.46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222992" y="4069079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10.0%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863072" y="4059935"/>
            <a:ext cx="841247" cy="246888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908792" y="4096511"/>
            <a:ext cx="7498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8A50"/>
                </a:solidFill>
              </a:rPr>
              <a:t>Strong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053328" y="4370832"/>
            <a:ext cx="57150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080760" y="4398264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45566"/>
                </a:solidFill>
              </a:rPr>
              <a:t>F5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565392" y="4398264"/>
            <a:ext cx="2002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Debt Service Coverage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13648" y="43982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Num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582912" y="43982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1.58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22992" y="4398264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10.0%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863072" y="4389120"/>
            <a:ext cx="841247" cy="246888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908792" y="4425696"/>
            <a:ext cx="7498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8A50"/>
                </a:solidFill>
              </a:rPr>
              <a:t>Strong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II. EDA: Univariate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A000"/>
                </a:solidFill>
              </a:rPr>
              <a:t>Distribution and default rates across categorical and numerical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6597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SME Credit Scorecard Development  |  Deloitte Credit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65976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AA"/>
                </a:solidFill>
              </a:rPr>
              <a:t>4 / 14</a:t>
            </a:r>
          </a:p>
        </p:txBody>
      </p:sp>
      <p:pic>
        <p:nvPicPr>
          <p:cNvPr id="10" name="Picture 9" descr="eda_univariate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70432"/>
            <a:ext cx="7589520" cy="42062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183879" y="1170432"/>
            <a:ext cx="36576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79" y="1170432"/>
            <a:ext cx="365760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7" y="121615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Key Observations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166420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8A"/>
                </a:solidFill>
              </a:rPr>
              <a:t>C1 Restructuring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186537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6–12 month restructured debt: 44% default vs 8% baseline — clear risk cliff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30428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8A"/>
                </a:solidFill>
              </a:rPr>
              <a:t>C3 CB Delinquency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50545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&gt;90-day overdue (&gt;1yr ago): 100% default rate — strongest single predictor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94436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8A"/>
                </a:solidFill>
              </a:rPr>
              <a:t>Net Profit 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314553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Heavy left-skew; median = −8%; majority of SMEs are unprofitable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358444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8A"/>
                </a:solidFill>
              </a:rPr>
              <a:t>Sale Growth (%)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785615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Extreme right skew (skewness = 10.95); near-zero signal in default separation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422452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8A"/>
                </a:solidFill>
              </a:rPr>
              <a:t>DSCR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44256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Defaulters cluster at DSCR ≤ 0; non-defaulters spread across positive range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532120"/>
            <a:ext cx="11365992" cy="274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5577840"/>
            <a:ext cx="1136599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6509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C2 Missing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8704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566"/>
                </a:solidFill>
              </a:rPr>
              <a:t>282 / 557 (51%) — treat NaN as "No rescheduling history" bin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5112" y="56509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Sentinel Values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5112" y="58704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566"/>
                </a:solidFill>
              </a:rPr>
              <a:t>99999999 in Profit Margin (52 rows) and Sale Growth (68 rows) → separate bin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47304" y="56509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Skewness Alert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47304" y="58704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566"/>
                </a:solidFill>
              </a:rPr>
              <a:t>Net Fixed Asset: 6.94 · Sale Growth: 10.95 · DSCR: 14.45 → IQR capping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II. EDA: Correlation &amp; Multicollinearity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A000"/>
                </a:solidFill>
              </a:rPr>
              <a:t>Pearson correlation for numerical features; Cramér's V for categorical pairs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6597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SME Credit Scorecard Development  |  Deloitte Credit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65976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AA"/>
                </a:solidFill>
              </a:rPr>
              <a:t>5 / 14</a:t>
            </a:r>
          </a:p>
        </p:txBody>
      </p:sp>
      <p:pic>
        <p:nvPicPr>
          <p:cNvPr id="10" name="Picture 9" descr="eda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70432"/>
            <a:ext cx="5943600" cy="3977639"/>
          </a:xfrm>
          <a:prstGeom prst="rect">
            <a:avLst/>
          </a:prstGeom>
        </p:spPr>
      </p:pic>
      <p:pic>
        <p:nvPicPr>
          <p:cNvPr id="11" name="Picture 10" descr="eda_cramers_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170432"/>
            <a:ext cx="3246120" cy="26974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537960" y="4005072"/>
            <a:ext cx="5239512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4005072"/>
            <a:ext cx="5239512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4050791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Cramér's V — Categorical Multicollinearity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4480560"/>
            <a:ext cx="4956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• C1 ↔ C2 = 0.40  |  C1 ↔ C3 = 0.37  |  C2 ↔ C3 = 0.39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4864608"/>
            <a:ext cx="4956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• Moderate inter-correlation among all three credit history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5248656"/>
            <a:ext cx="4956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• Including all three may introduce partial redundancy in the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5632704"/>
            <a:ext cx="4956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• Recommendation: retain all — V &lt; 0.60 (below critical threshold)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577840"/>
            <a:ext cx="11365992" cy="274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5623560"/>
            <a:ext cx="58978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5623560"/>
            <a:ext cx="5897880" cy="38404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66928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Numerical vs Default — KS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099048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Net Fixed Asset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6099048"/>
            <a:ext cx="960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KS=0.30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6099048"/>
            <a:ext cx="960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p=0.0005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099048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8A50"/>
                </a:solidFill>
              </a:rPr>
              <a:t>✔ Significant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099048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DSCR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6099048"/>
            <a:ext cx="960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KS=0.37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6099048"/>
            <a:ext cx="960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p=0.0004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6099048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8A50"/>
                </a:solidFill>
              </a:rPr>
              <a:t>✔ Significant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099048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Profit Margin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6099048"/>
            <a:ext cx="960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KS=0.18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6099048"/>
            <a:ext cx="960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p=0.113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6099048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392B"/>
                </a:solidFill>
              </a:rPr>
              <a:t>✘ Not significant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099048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Sale Growth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6099048"/>
            <a:ext cx="960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KS=0.11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6099048"/>
            <a:ext cx="960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p=0.693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6099048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392B"/>
                </a:solidFill>
              </a:rPr>
              <a:t>✘ Not significant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0990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566"/>
                </a:solidFill>
              </a:rPr>
              <a:t>Net Fixed Asset: KS=0.30  p=0.0005 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60990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566"/>
                </a:solidFill>
              </a:rPr>
              <a:t>DSCR: KS=0.37  p=0.0004 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60990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566"/>
                </a:solidFill>
              </a:rPr>
              <a:t>Profit Margin: KS=0.18  p=0.113 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609904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445566"/>
                </a:solidFill>
              </a:rPr>
              <a:t>Sale Growth: KS=0.11  p=0.693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II. EDA: WoE Monotonicity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A000"/>
                </a:solidFill>
              </a:rPr>
              <a:t>Weight of Evidence validates risk ordering — bins must show a clear directional trend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6597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SME Credit Scorecard Development  |  Deloitte Credit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65976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AA"/>
                </a:solidFill>
              </a:rPr>
              <a:t>6 / 14</a:t>
            </a:r>
          </a:p>
        </p:txBody>
      </p:sp>
      <p:pic>
        <p:nvPicPr>
          <p:cNvPr id="10" name="Picture 9" descr="eda_monoton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70432"/>
            <a:ext cx="11365992" cy="43159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5623560"/>
            <a:ext cx="11365992" cy="274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5669280"/>
            <a:ext cx="3749039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5669280"/>
            <a:ext cx="54864" cy="9601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5742432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B55"/>
                </a:solidFill>
              </a:rPr>
              <a:t>C1 Restructuring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5998464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Non-monotone: "Never restructured" WoE &lt; "No history" WoE — these bins should be merged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5669280"/>
            <a:ext cx="3749039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5968" y="5669280"/>
            <a:ext cx="54864" cy="960120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5742432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B55"/>
                </a:solidFill>
              </a:rPr>
              <a:t>C3 CB Delinquency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5998464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Broadly monotone; zero-default bins produce WoE = ±20 — Laplace smoothing required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0455" y="5669280"/>
            <a:ext cx="3749039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0455" y="5669280"/>
            <a:ext cx="54864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7" y="5742432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B55"/>
                </a:solidFill>
              </a:rPr>
              <a:t>F4 D/E Ratio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7" y="5998464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(0.5,1) bin has 0 defaults → WoE = −20.23 — extreme value distorts scoring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III. Feature Weight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A000"/>
                </a:solidFill>
              </a:rPr>
              <a:t>Information Value (IV) as objective, data-driven measure vs expert-assigned weights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6597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SME Credit Scorecard Development  |  Deloitte Credit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65976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AA"/>
                </a:solidFill>
              </a:rPr>
              <a:t>7 / 14</a:t>
            </a:r>
          </a:p>
        </p:txBody>
      </p:sp>
      <p:pic>
        <p:nvPicPr>
          <p:cNvPr id="10" name="Picture 9" descr="iv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70432"/>
            <a:ext cx="7223760" cy="35661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818120" y="1170432"/>
            <a:ext cx="3977639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8120" y="1170432"/>
            <a:ext cx="3977639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73568" y="1216152"/>
            <a:ext cx="3703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IV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6642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1664208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Expert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19488" y="1664208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IV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166420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Verdict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1947672"/>
            <a:ext cx="3886200" cy="274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36408" y="2011680"/>
            <a:ext cx="3931920" cy="30175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02996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5566"/>
                </a:solidFill>
              </a:rPr>
              <a:t>C3 CB Delinquency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029968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8" y="2029968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5.43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202996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8A50"/>
                </a:solidFill>
              </a:rPr>
              <a:t>✅ Aligned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36408" y="2322576"/>
            <a:ext cx="3931920" cy="30175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234086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5566"/>
                </a:solidFill>
              </a:rPr>
              <a:t>C1 Restructuring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340864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12.5%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9488" y="2340864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1.17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234086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8A50"/>
                </a:solidFill>
              </a:rPr>
              <a:t>✅ Reasonable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36408" y="2633472"/>
            <a:ext cx="3931920" cy="301752"/>
          </a:xfrm>
          <a:prstGeom prst="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26517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5566"/>
                </a:solidFill>
              </a:rPr>
              <a:t>F1 Net Fixed Asset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2651760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10%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9488" y="2651760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2.60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65176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47E00"/>
                </a:solidFill>
              </a:rPr>
              <a:t>⚠ Underweighted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36408" y="2944368"/>
            <a:ext cx="3931920" cy="301752"/>
          </a:xfrm>
          <a:prstGeom prst="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296265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5566"/>
                </a:solidFill>
              </a:rPr>
              <a:t>F4 D/E Ratio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2962656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10%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19488" y="2962656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1.46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296265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47E00"/>
                </a:solidFill>
              </a:rPr>
              <a:t>⚠ Underweighted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36408" y="3255263"/>
            <a:ext cx="3931920" cy="301752"/>
          </a:xfrm>
          <a:prstGeom prst="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3273551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5566"/>
                </a:solidFill>
              </a:rPr>
              <a:t>F5 DSCR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3273551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10%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19488" y="3273551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1.58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0" y="3273551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47E00"/>
                </a:solidFill>
              </a:rPr>
              <a:t>⚠ Underweighted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36408" y="3566159"/>
            <a:ext cx="3931920" cy="301752"/>
          </a:xfrm>
          <a:prstGeom prst="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0" y="358444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5566"/>
                </a:solidFill>
              </a:rPr>
              <a:t>F2 Profit Margin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3584447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10%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19488" y="3584447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1.28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3584447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47E00"/>
                </a:solidFill>
              </a:rPr>
              <a:t>⚠ Underweighted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36408" y="3877056"/>
            <a:ext cx="3931920" cy="301752"/>
          </a:xfrm>
          <a:prstGeom prst="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63840" y="389534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5566"/>
                </a:solidFill>
              </a:rPr>
              <a:t>C2 Rescheduling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3895344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12.5%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19488" y="3895344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0.57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0" y="389534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47E00"/>
                </a:solidFill>
              </a:rPr>
              <a:t>⚠ Overweighted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36408" y="4187952"/>
            <a:ext cx="3931920" cy="301752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0" y="42062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5566"/>
                </a:solidFill>
              </a:rPr>
              <a:t>F3 Sale Growth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98280" y="4206240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10%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19488" y="4206240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0.04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49840" y="420624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392B"/>
                </a:solidFill>
              </a:rPr>
              <a:t>❌ Remove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4892040"/>
            <a:ext cx="7223760" cy="1554480"/>
          </a:xfrm>
          <a:prstGeom prst="rect">
            <a:avLst/>
          </a:prstGeom>
          <a:solidFill>
            <a:srgbClr val="E4F4F6"/>
          </a:solidFill>
          <a:ln w="9525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1480" y="4892040"/>
            <a:ext cx="54864" cy="15544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" y="496519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2B55"/>
                </a:solidFill>
              </a:rPr>
              <a:t>Proposed Weight Rebalancing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" y="5285232"/>
            <a:ext cx="6903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2B55"/>
                </a:solidFill>
              </a:rPr>
              <a:t>↑ Increase C3 → 30%  |  ↑ F1, F4, F5 → 15% each  |  ↓ C1/C2 → 10% each  |  ✕ Remove F3 (IV &lt; 0.05)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" y="5650992"/>
            <a:ext cx="6903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45566"/>
                </a:solidFill>
              </a:rPr>
              <a:t>Rationale: IV directly measures the log-odds separating power of each feature — a more objective basis than expert judgement alone.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III. Scorecard Enhancement Suggestions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A000"/>
                </a:solidFill>
              </a:rPr>
              <a:t>Six targeted improvements to model robustness, calibration and predictive power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6597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SME Credit Scorecard Development  |  Deloitte Credit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65976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AA"/>
                </a:solidFill>
              </a:rPr>
              <a:t>8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170432"/>
            <a:ext cx="35661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70432"/>
            <a:ext cx="3566160" cy="38404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4358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1. Laplace Smoothing on WoE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645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Sparse bins produce WoE = ±20, distorting all scores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92938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Apply ε = 0.5: pct_bad = (bad + ε) / (total_bad + ε × 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128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Prevents extreme score swings for near-zero event bins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170432"/>
            <a:ext cx="35661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60520" y="1170432"/>
            <a:ext cx="3566160" cy="38404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24358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2. Bin Merging &amp; Monotonicity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645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"Restructured in past" has 0 defaults — merge with adjacent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192938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Enforce monotone WoE: merge if direction breaks risk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2128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Rule: merge bins with n &lt; 5 or zero events without risk logic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1170432"/>
            <a:ext cx="35661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9560" y="1170432"/>
            <a:ext cx="356616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124358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3. Remove F3 Sale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1645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IV = 0.04 → below weak threshold of 0.10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192938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Chi-square p = 0.89 — not statistically significant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2128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Adds noise without predictive gain — omit from scorecard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730752"/>
            <a:ext cx="35661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3730752"/>
            <a:ext cx="3566160" cy="384048"/>
          </a:xfrm>
          <a:prstGeom prst="rect">
            <a:avLst/>
          </a:prstGeom>
          <a:solidFill>
            <a:srgbClr val="D4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8039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4. Recalibrate PD Probabilities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206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class_weight="balanced" inflates predicted PD 4×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48970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Apply Platt scaling (CalibratedClassifierCV, cv=5)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77316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Or recalculate base_odds from actual portfolio default 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3730752"/>
            <a:ext cx="35661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60520" y="3730752"/>
            <a:ext cx="356616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38039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5. Macroeconomic Overlay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4206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Add GDP growth, interest rate, oil price as macro variables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448970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Test 1–4 quarter lags via Granger causality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477316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Two-stage model: micro scorecard × macro scalar adjustment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3730752"/>
            <a:ext cx="35661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3730752"/>
            <a:ext cx="356616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0" y="38039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6. Rating Scale Calibration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4206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Use log-linear PD spacing (PD doubles each rating grade)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448970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Each band needs ≥ 20 defaults for stable PD estimates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477316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• Validate: PD must strictly increase from best to worst band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II. EDA Methodology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A000"/>
                </a:solidFill>
              </a:rPr>
              <a:t>Generalised five-step approach for credit risk datasets with borrower, financial and macro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6597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SME Credit Scorecard Development  |  Deloitte Credit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65976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AA"/>
                </a:solidFill>
              </a:rPr>
              <a:t>9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170432"/>
            <a:ext cx="2231136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70432"/>
            <a:ext cx="2231136" cy="7772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07008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8A000"/>
                </a:solidFill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481328"/>
            <a:ext cx="20482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Data Quality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56816"/>
            <a:ext cx="2048256" cy="1828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0299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• Missing value audit &amp; sentinel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25328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• Skewness check → IQR-based capping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30358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• Data type and duplicate validation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42616" y="2514600"/>
            <a:ext cx="100584" cy="22860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61488" y="1170432"/>
            <a:ext cx="2231136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61488" y="1170432"/>
            <a:ext cx="2231136" cy="77724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52928" y="1207008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8A000"/>
                </a:solidFill>
              </a:rPr>
              <a:t>Step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1481328"/>
            <a:ext cx="20482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Univariate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52928" y="1956816"/>
            <a:ext cx="2048256" cy="1828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20299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• Categorical: frequency, default rate per bin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25328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• Numerical: histogram, boxplot, skewness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0358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• Flag &gt;50% single-bin concentration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92624" y="2514600"/>
            <a:ext cx="100584" cy="22860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11496" y="1170432"/>
            <a:ext cx="2231136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11496" y="1170432"/>
            <a:ext cx="2231136" cy="7772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02936" y="1207008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8A000"/>
                </a:solidFill>
              </a:rPr>
              <a:t>Step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02936" y="1481328"/>
            <a:ext cx="20482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Bivariate Analysis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02936" y="1956816"/>
            <a:ext cx="2048256" cy="1828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76088" y="20299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• Numerical: KS test, Pearson correlation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76088" y="25328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• Categorical: Chi-square, Cramér's 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76088" y="30358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• IV/WoE: quantify per-bin predictive power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42631" y="2514600"/>
            <a:ext cx="100584" cy="22860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61504" y="1170432"/>
            <a:ext cx="2231136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61504" y="1170432"/>
            <a:ext cx="2231136" cy="77724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1207008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8A000"/>
                </a:solidFill>
              </a:rPr>
              <a:t>Step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52944" y="1481328"/>
            <a:ext cx="20482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Multivariate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52944" y="1956816"/>
            <a:ext cx="2048256" cy="1828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26096" y="20299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• Pearson + Cramér's V combined matrix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6096" y="25328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• VIF for numerical multicollinearity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6096" y="30358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• PCA if &gt; 15 features (dimensionality)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92640" y="2514600"/>
            <a:ext cx="100584" cy="22860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811512" y="1170432"/>
            <a:ext cx="2231136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11512" y="1170432"/>
            <a:ext cx="2231136" cy="7772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02952" y="1207008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8A000"/>
                </a:solidFill>
              </a:rPr>
              <a:t>Step 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02952" y="1481328"/>
            <a:ext cx="20482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Macro Integration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02952" y="1956816"/>
            <a:ext cx="2048256" cy="1828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76104" y="20299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• GDP growth, rates, oil vs default rate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76104" y="25328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• Granger causality with 1–4Q lags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76104" y="30358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• Two-stage: micro model + macro scalar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IV. PD Model Development — Logistic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A000"/>
                </a:solidFill>
              </a:rPr>
              <a:t>Theory, WoE encoding rationale, assumptions and PDO score calibration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6597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SME Credit Scorecard Development  |  Deloitte Credit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65976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AA"/>
                </a:solidFill>
              </a:rPr>
              <a:t>10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170432"/>
            <a:ext cx="5577840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70432"/>
            <a:ext cx="557784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2161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Model Theory &amp; Assumptions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7335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8A"/>
                </a:solidFill>
              </a:rPr>
              <a:t>▸ Log-Odds Formulation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901952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log(p / 1−p) = β₀ + β₁WoE₁ + … + βₙWoEₙ
WoE encoding linearises the log-odds relationship for LR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40487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8A"/>
                </a:solidFill>
              </a:rPr>
              <a:t>▸ MLE Estimation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33472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Parameters found by maximising log-likelihood (no closed form)
Solver: iterative Newton-Raphson / L-BFGS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136391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8A"/>
                </a:solidFill>
              </a:rPr>
              <a:t>▸ WoE Encoding Effect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64991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Replaces bins with ln(%Bad / %Good) — continuous, monotone
Handles non-linearity; nullifies need for dummy variables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67911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8A"/>
                </a:solidFill>
              </a:rPr>
              <a:t>▸ Class Imbalance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096511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class_weight="balanced" re-weights loss function per class
Note: inflates predicted PD — recalibration step mandatory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99431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8A"/>
                </a:solidFill>
              </a:rPr>
              <a:t>▸ Key Assumptions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828031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Linear log-odds · No perfect multicollinearity
Observations i.i.d. · Large-sample MLE validity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1170432"/>
            <a:ext cx="5623560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170432"/>
            <a:ext cx="5623560" cy="38404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216152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Implementation Pipeline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9632" y="1655064"/>
            <a:ext cx="384048" cy="38404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67335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1673352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8A"/>
                </a:solidFill>
              </a:rPr>
              <a:t>Data Preparation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1901952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Bin features; fill NaN → "Not available"; cap sentinel values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2" y="2386584"/>
            <a:ext cx="384048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240487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404872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8A"/>
                </a:solidFill>
              </a:rPr>
              <a:t>WoE Encoding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2633472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Compute WoE per bin with Laplace smoothing ε = 0.5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9632" y="3118103"/>
            <a:ext cx="384048" cy="38404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3136391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136391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8A"/>
                </a:solidFill>
              </a:rPr>
              <a:t>Train / Test Split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364991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80/20 stratified; EPV check: need ≥ 10 defaults per feature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3849624"/>
            <a:ext cx="384048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3867911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3867911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8A"/>
                </a:solidFill>
              </a:rPr>
              <a:t>Model Training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096511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LogisticRegression(class_weight="balanced"); no scaling needed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99632" y="4581144"/>
            <a:ext cx="384048" cy="38404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4599431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4599431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8A"/>
                </a:solidFill>
              </a:rPr>
              <a:t>PDO Calibration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4828031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Factor = PDO/ln2 = 28.85 · Offset = 600 − 28.85×ln(50) = 487.1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99632" y="5312664"/>
            <a:ext cx="384048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5330951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5330951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7A8A"/>
                </a:solidFill>
              </a:rPr>
              <a:t>Score Mapping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5559551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Score = Offset + Factor×β₀ + Σ[−Factor × βᵢ × WoEᵢ]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IV. Model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A000"/>
                </a:solidFill>
              </a:rPr>
              <a:t>LR coefficients, normalised importance vs expert weights and performance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6597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SME Credit Scorecard Development  |  Deloitte Credit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65976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AA"/>
                </a:solidFill>
              </a:rPr>
              <a:t>11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170432"/>
            <a:ext cx="2231136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70432"/>
            <a:ext cx="2231136" cy="6400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80160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7A8A"/>
                </a:solidFill>
              </a:rPr>
              <a:t>0.90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73936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2B55"/>
                </a:solidFill>
              </a:rPr>
              <a:t>AUC-ROC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20824"/>
            <a:ext cx="20482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9AA"/>
                </a:solidFill>
              </a:rPr>
              <a:t>Excellent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170432"/>
            <a:ext cx="2231136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0" y="1170432"/>
            <a:ext cx="2231136" cy="6400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1280160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7A8A"/>
                </a:solidFill>
              </a:rPr>
              <a:t>0.80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1773936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2B55"/>
                </a:solidFill>
              </a:rPr>
              <a:t>Gini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020824"/>
            <a:ext cx="20482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9AA"/>
                </a:solidFill>
              </a:rPr>
              <a:t>Strong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1170432"/>
            <a:ext cx="2231136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74920" y="1170432"/>
            <a:ext cx="2231136" cy="640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59" y="1280160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2B55"/>
                </a:solidFill>
              </a:rPr>
              <a:t>65%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59" y="1773936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2B55"/>
                </a:solidFill>
              </a:rPr>
              <a:t>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59" y="2020824"/>
            <a:ext cx="20482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9AA"/>
                </a:solidFill>
              </a:rPr>
              <a:t>Threshold-
dependent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1170432"/>
            <a:ext cx="2231136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06640" y="1170432"/>
            <a:ext cx="2231136" cy="6400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1280160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7A8A"/>
                </a:solidFill>
              </a:rPr>
              <a:t>80%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1773936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2B55"/>
                </a:solidFill>
              </a:rPr>
              <a:t>Recall (D)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2020824"/>
            <a:ext cx="20482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9AA"/>
                </a:solidFill>
              </a:rPr>
              <a:t>Default
detection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38359" y="1170432"/>
            <a:ext cx="2231136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38359" y="1170432"/>
            <a:ext cx="2231136" cy="640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9799" y="1280160"/>
            <a:ext cx="20482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D2B55"/>
                </a:solidFill>
              </a:rPr>
              <a:t>28.85
/ 487.1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799" y="1773936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2B55"/>
                </a:solidFill>
              </a:rPr>
              <a:t>Factor / Offset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799" y="2020824"/>
            <a:ext cx="20482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9AA"/>
                </a:solidFill>
              </a:rPr>
              <a:t>PDO=20, Base=600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2423160"/>
            <a:ext cx="50749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2423160"/>
            <a:ext cx="507492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246888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Coefficients &amp; Feature Importance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2907792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Feature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8840" y="2907792"/>
            <a:ext cx="8961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Coef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90672" y="2907792"/>
            <a:ext cx="7955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LR Wt%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2907792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Expert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182112"/>
            <a:ext cx="4937760" cy="274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9768" y="3227832"/>
            <a:ext cx="5020056" cy="283464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32461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5566"/>
                </a:solidFill>
              </a:rPr>
              <a:t>C3 CB Delinquency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48840" y="3246120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0.897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90672" y="3246120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8A50"/>
                </a:solidFill>
              </a:rPr>
              <a:t>26.6%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0" y="324612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25%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9768" y="3520439"/>
            <a:ext cx="5020056" cy="283464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538727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5566"/>
                </a:solidFill>
              </a:rPr>
              <a:t>F4 D/E Ratio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48840" y="3538727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0.745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90672" y="3538727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0392B"/>
                </a:solidFill>
              </a:rPr>
              <a:t>22.2%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31920" y="3538727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10%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9768" y="3813048"/>
            <a:ext cx="5020056" cy="283464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3831335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5566"/>
                </a:solidFill>
              </a:rPr>
              <a:t>F5 DSCR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48840" y="3831335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0.545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90672" y="3831335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0392B"/>
                </a:solidFill>
              </a:rPr>
              <a:t>16.2%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1920" y="3831335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10%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9768" y="4105656"/>
            <a:ext cx="5020056" cy="283464"/>
          </a:xfrm>
          <a:prstGeom prst="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41239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5566"/>
                </a:solidFill>
              </a:rPr>
              <a:t>C2 Debt Rescheduling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48840" y="4123944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0.469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90672" y="4123944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D47E00"/>
                </a:solidFill>
              </a:rPr>
              <a:t>14.0%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31920" y="4123944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12.5%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9768" y="4398264"/>
            <a:ext cx="5020056" cy="283464"/>
          </a:xfrm>
          <a:prstGeom prst="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441655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5566"/>
                </a:solidFill>
              </a:rPr>
              <a:t>F1 Net Fixed Asset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48840" y="4416552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0.282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090672" y="4416552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D47E00"/>
                </a:solidFill>
              </a:rPr>
              <a:t> 8.4%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31920" y="441655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10%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9768" y="4690872"/>
            <a:ext cx="5020056" cy="283464"/>
          </a:xfrm>
          <a:prstGeom prst="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47091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5566"/>
                </a:solidFill>
              </a:rPr>
              <a:t>C1 Debt Restructuring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48840" y="4709160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0.238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90672" y="4709160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D47E00"/>
                </a:solidFill>
              </a:rPr>
              <a:t> 7.1%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31920" y="47091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12.5%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9768" y="4983480"/>
            <a:ext cx="5020056" cy="283464"/>
          </a:xfrm>
          <a:prstGeom prst="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50017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5566"/>
                </a:solidFill>
              </a:rPr>
              <a:t>F2 Net Profit Margin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48840" y="5001768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0.182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90672" y="5001768"/>
            <a:ext cx="795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D47E00"/>
                </a:solidFill>
              </a:rPr>
              <a:t> 5.5%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31920" y="500176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45566"/>
                </a:solidFill>
              </a:rPr>
              <a:t>10%</a:t>
            </a:r>
          </a:p>
        </p:txBody>
      </p:sp>
      <p:pic>
        <p:nvPicPr>
          <p:cNvPr id="78" name="Picture 77" descr="roc_curv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423160"/>
            <a:ext cx="3246120" cy="2057400"/>
          </a:xfrm>
          <a:prstGeom prst="rect">
            <a:avLst/>
          </a:prstGeom>
        </p:spPr>
      </p:pic>
      <p:pic>
        <p:nvPicPr>
          <p:cNvPr id="79" name="Picture 78" descr="coef_vs_expert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2423160"/>
            <a:ext cx="3108960" cy="2057400"/>
          </a:xfrm>
          <a:prstGeom prst="rect">
            <a:avLst/>
          </a:prstGeom>
        </p:spPr>
      </p:pic>
      <p:pic>
        <p:nvPicPr>
          <p:cNvPr id="80" name="Picture 79" descr="score_band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4572000"/>
            <a:ext cx="649224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V. Model Validation &amp;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A000"/>
                </a:solidFill>
              </a:rPr>
              <a:t>Three pillars: goodness-of-fit, discriminatory power and forecasting 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6597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SME Credit Scorecard Development  |  Deloitte Credit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65976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AA"/>
                </a:solidFill>
              </a:rPr>
              <a:t>12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170432"/>
            <a:ext cx="3749039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170432"/>
            <a:ext cx="3749039" cy="6858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88720"/>
            <a:ext cx="3493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Pillar 1
Goodness-of-Fit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965960"/>
            <a:ext cx="3493008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002536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B55"/>
                </a:solidFill>
              </a:rPr>
              <a:t>Hosmer-Lemeshow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295144"/>
            <a:ext cx="3364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Stat = 297.94  ·  p ≈ 0.00 → Poor calibration fit
Root cause: extreme WoE (±20) from zero-event bins
Fix: Laplace smoothing + bin merging before retest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3493008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145536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B55"/>
                </a:solidFill>
              </a:rPr>
              <a:t>Binomial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438144"/>
            <a:ext cx="3364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Observed: 50 defaults (9.0%)  ·  Predicted avg PD: 34.97%
Model over-predicts PD by 4× — due to class_weight="balanced"
Fix: Platt scaling or recalibrate base_odds to actual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1170432"/>
            <a:ext cx="3749039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1170432"/>
            <a:ext cx="3749039" cy="68580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1188720"/>
            <a:ext cx="3493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Pillar 2
Discriminatory Power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1965960"/>
            <a:ext cx="3493008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2002536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B55"/>
                </a:solidFill>
              </a:rPr>
              <a:t>AUC-ROC = 0.90  ·  Gini = 0.80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2295144"/>
            <a:ext cx="3364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Model correctly ranks 90% of default/non-default pairs
Excellent discrimination even with miscalibrated probabilities
AUC is robust to class imbalance — reliable metric here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3108960"/>
            <a:ext cx="3493008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3145536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B55"/>
                </a:solidFill>
              </a:rPr>
              <a:t>KS Statistic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3438144"/>
            <a:ext cx="3364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Score means: 395.9 (default) vs 636.6 (non-default)
Strong 240-point separation between risk groups
Top score band (300–498): 44.8% default rate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1170432"/>
            <a:ext cx="3749039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20" y="1170432"/>
            <a:ext cx="3749039" cy="68580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1188720"/>
            <a:ext cx="3493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Pillar 3
Forecasting Accuracy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1965960"/>
            <a:ext cx="3493008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76488" y="2002536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B55"/>
                </a:solidFill>
              </a:rPr>
              <a:t>PSI — Population Stability Index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6488" y="2295144"/>
            <a:ext cx="3364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Monitor score distribution shift on new data over time
PSI &lt; 0.10: stable · 0.10–0.25: investigate · &gt; 0.25: rebuild
Run monthly after deployment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3108960"/>
            <a:ext cx="3493008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76488" y="3145536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2B55"/>
                </a:solidFill>
              </a:rPr>
              <a:t>Back-Testing &amp; Validation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6488" y="3438144"/>
            <a:ext cx="3364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Compare predicted PD vs realised default rates per score band
Validate annually; flag bands where |PD_pred − PD_actual| &gt; 2%
Maintain champion/challenger framework for ongoing monitoring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V. Score Distribution &amp; Band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8A000"/>
                </a:solidFill>
              </a:rPr>
              <a:t>PDO-calibrated scores scaled to 300–850 with band-level default rate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6597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AA"/>
                </a:solidFill>
              </a:rPr>
              <a:t>SME Credit Scorecard Development  |  Deloitte Credit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65976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AA"/>
                </a:solidFill>
              </a:rPr>
              <a:t>13 / 14</a:t>
            </a:r>
          </a:p>
        </p:txBody>
      </p:sp>
      <p:pic>
        <p:nvPicPr>
          <p:cNvPr id="10" name="Picture 9" descr="score_ban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70432"/>
            <a:ext cx="7955279" cy="40690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549640" y="1170432"/>
            <a:ext cx="3273552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F2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49640" y="1170432"/>
            <a:ext cx="3273552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121615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PDO Parameters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67928" y="1655064"/>
            <a:ext cx="3218688" cy="310896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68249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8A"/>
                </a:solidFill>
              </a:rPr>
              <a:t>PDO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1682496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20 pts  (odds double per 20 pts)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67928" y="1984248"/>
            <a:ext cx="321868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201167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8A"/>
                </a:solidFill>
              </a:rPr>
              <a:t>Base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2011679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600  at  50:1 odds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67928" y="2313432"/>
            <a:ext cx="3218688" cy="310896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234086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8A"/>
                </a:solidFill>
              </a:rPr>
              <a:t>Factor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2340863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PDO / ln(2)  =  28.85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67928" y="2642615"/>
            <a:ext cx="321868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670047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8A"/>
                </a:solidFill>
              </a:rPr>
              <a:t>Offset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2670047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600 − 28.85 × ln(50)  =  487.1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67928" y="2971799"/>
            <a:ext cx="3218688" cy="310896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299923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8A"/>
                </a:solidFill>
              </a:rPr>
              <a:t>Intercept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2999231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Factor × β₀  =  10.55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67928" y="3300983"/>
            <a:ext cx="321868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3328415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A8A"/>
                </a:solidFill>
              </a:rPr>
              <a:t>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3328415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300–850  (min-max normalised)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77072" y="3520440"/>
            <a:ext cx="3200400" cy="274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32520" y="35935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2B55"/>
                </a:solidFill>
              </a:rPr>
              <a:t>Band Findings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67928" y="3886200"/>
            <a:ext cx="3218688" cy="384048"/>
          </a:xfrm>
          <a:prstGeom prst="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395020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300–498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91472" y="39502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44.8% default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16768" y="395020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392B"/>
                </a:solidFill>
              </a:rPr>
              <a:t>HIGH RISK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67928" y="4315968"/>
            <a:ext cx="3218688" cy="384048"/>
          </a:xfrm>
          <a:prstGeom prst="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437997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498–513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91472" y="437997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5–13% default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16768" y="4379976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47E00"/>
                </a:solidFill>
              </a:rPr>
              <a:t>MEDIUM RISK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67928" y="4745736"/>
            <a:ext cx="3218688" cy="384048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4809744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2B55"/>
                </a:solidFill>
              </a:rPr>
              <a:t>513–850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91472" y="480974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</a:rPr>
              <a:t>0–3.5% default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16768" y="4809744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8A50"/>
                </a:solidFill>
              </a:rPr>
              <a:t>LOW RISK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5349240"/>
            <a:ext cx="11365992" cy="2743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1480" y="5394960"/>
            <a:ext cx="11365992" cy="914400"/>
          </a:xfrm>
          <a:prstGeom prst="rect">
            <a:avLst/>
          </a:prstGeom>
          <a:solidFill>
            <a:srgbClr val="FDEDEB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1480" y="5394960"/>
            <a:ext cx="54864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54498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⚠  Calibration Issue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57332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5566"/>
                </a:solidFill>
              </a:rPr>
              <a:t>Predicted avg PD = 34.97% vs Actual 9.0% — class_weight="balanced" inflates probabilities 4×. Apply Platt scaling (CalibratedClassifierCV) before using PD values for provisioning, pricing or regulatory reporting.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11804904" cy="6400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6793992"/>
            <a:ext cx="11804904" cy="6400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Conclusion &amp; Recommendations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960120"/>
            <a:ext cx="10835640" cy="457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15568"/>
            <a:ext cx="3566160" cy="2267712"/>
          </a:xfrm>
          <a:prstGeom prst="rect">
            <a:avLst/>
          </a:prstGeom>
          <a:solidFill>
            <a:srgbClr val="0E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15568"/>
            <a:ext cx="3566160" cy="6400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15568"/>
            <a:ext cx="64008" cy="226771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225295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Rebalance Feature Weights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591056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Raise C3 → 30%, D/E Ratio &amp; DSCR → 15% each.
Remove F3 Sale Growth (IV = 0.04).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115568"/>
            <a:ext cx="3566160" cy="2267712"/>
          </a:xfrm>
          <a:prstGeom prst="rect">
            <a:avLst/>
          </a:prstGeom>
          <a:solidFill>
            <a:srgbClr val="0E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115568"/>
            <a:ext cx="3566160" cy="6400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115568"/>
            <a:ext cx="64008" cy="226771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225295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Fix WoE Sparse Bins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591056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Apply Laplace smoothing ε = 0.5 to all bins.
Merge bins with n &lt; 5 or zero-default cells.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115568"/>
            <a:ext cx="3566160" cy="2267712"/>
          </a:xfrm>
          <a:prstGeom prst="rect">
            <a:avLst/>
          </a:prstGeom>
          <a:solidFill>
            <a:srgbClr val="0E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115568"/>
            <a:ext cx="3566160" cy="6400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1000" y="1115568"/>
            <a:ext cx="64008" cy="226771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1225295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Recalibrate PD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1591056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class_weight distorts PD 4×.
Apply Platt scaling or use actual portfolio base_odds.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584448"/>
            <a:ext cx="3566160" cy="2267712"/>
          </a:xfrm>
          <a:prstGeom prst="rect">
            <a:avLst/>
          </a:prstGeom>
          <a:solidFill>
            <a:srgbClr val="0E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584448"/>
            <a:ext cx="3566160" cy="6400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584448"/>
            <a:ext cx="64008" cy="226771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694176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Validate Robustly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059935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Re-run HL test after bin fixes.
Implement PSI monitoring for ongoing score drift.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3584448"/>
            <a:ext cx="3566160" cy="2267712"/>
          </a:xfrm>
          <a:prstGeom prst="rect">
            <a:avLst/>
          </a:prstGeom>
          <a:solidFill>
            <a:srgbClr val="0E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0" y="3584448"/>
            <a:ext cx="3566160" cy="6400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60" y="3584448"/>
            <a:ext cx="64008" cy="226771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3694176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Add Macro Variables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059935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Integrate GDP growth, interest rate, oil price.
Two-stage: micro scorecard + macro scalar.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3584448"/>
            <a:ext cx="3566160" cy="2267712"/>
          </a:xfrm>
          <a:prstGeom prst="rect">
            <a:avLst/>
          </a:prstGeom>
          <a:solidFill>
            <a:srgbClr val="0E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01000" y="3584448"/>
            <a:ext cx="3566160" cy="6400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01000" y="3584448"/>
            <a:ext cx="64008" cy="226771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79" y="3694176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Rating Scale Design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4059935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Log-linear PD spacing (PD doubles per grade).
≥ 20 defaults per band for stable estimates.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989320"/>
            <a:ext cx="11274552" cy="594360"/>
          </a:xfrm>
          <a:prstGeom prst="rect">
            <a:avLst/>
          </a:prstGeom>
          <a:solidFill>
            <a:srgbClr val="0E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60624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A000"/>
                </a:solidFill>
              </a:rPr>
              <a:t>Model achieves AUC = 0.90 — strong discrimination — but requires calibration fixes before production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